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92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5" r:id="rId37"/>
    <p:sldId id="293" r:id="rId38"/>
    <p:sldId id="296" r:id="rId39"/>
    <p:sldId id="289" r:id="rId40"/>
    <p:sldId id="290" r:id="rId41"/>
    <p:sldId id="294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2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46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1200" dirty="0">
                <a:solidFill>
                  <a:srgbClr val="E99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 Nacional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Ocupación y Empleo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mercado laboral a los microdatos: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mide, cómo se diseña y cómo se replica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 ·  México  ·  Documento base: Cómo se hace la ENOE, 2023 · Conociendo la base de datos, 2023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medimos y por qué importa?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al mercado laboral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es el mecanismo principal mediante el cual los hogares acceden a ingresos y bienestar. Medirlo con rigor es condición necesaria para la política económica y social.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política pública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47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 desempleo, capacitación laboral, salarios mínimos — todo depende de saber cuántos trabajan y en qué condiciones.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81728" y="14630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84648" y="15179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económico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4648" y="1847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y cuentas nacionales usan horas trabajadas como insumo. Sin medición del empleo no hay contabilidad nacional.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576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0266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Comparabilidad internacional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35584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OIT/OCDE permiten comparar México con el mundo y evaluar avances en bienestar laboral.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81728" y="29718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81728" y="29718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681728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4648" y="30266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y pobreza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4648" y="335584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informal y el desempleo son dos de los correlatos más fuertes de la pobreza en México.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mercado laboral?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566928"/>
          </a:xfrm>
          <a:prstGeom prst="roundRect">
            <a:avLst>
              <a:gd name="adj" fmla="val 12903"/>
            </a:avLst>
          </a:prstGeom>
          <a:solidFill>
            <a:srgbClr val="0A2342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8449056" cy="566928"/>
          </a:xfrm>
          <a:prstGeom prst="roundRect">
            <a:avLst>
              <a:gd name="adj" fmla="val 1129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30352" y="777240"/>
            <a:ext cx="80832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donde interactúan quienes ofrecen trabajo (personas) y quienes lo demandan (empresas, gobierno, hogares). Su estado determina ingresos, bienestar y crecimiento económico.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4114800" cy="1444752"/>
          </a:xfrm>
          <a:prstGeom prst="roundRect">
            <a:avLst>
              <a:gd name="adj" fmla="val 506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7472" y="1481328"/>
            <a:ext cx="4114800" cy="347472"/>
          </a:xfrm>
          <a:prstGeom prst="roundRect">
            <a:avLst>
              <a:gd name="adj" fmla="val 18421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7472" y="14813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laboral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88366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quieren y pueden trabajar. Depende de salarios esperados, costo de oportunidad (estudiar, cuidados), demografía y educación.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81328"/>
            <a:ext cx="41148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4114800" cy="347472"/>
          </a:xfrm>
          <a:prstGeom prst="roundRect">
            <a:avLst>
              <a:gd name="adj" fmla="val 18421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63440" y="14813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laboral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88366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e instituciones que contratan. Depende de productividad, tecnología, costo del capital y condiciones macroeconómicas.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017520"/>
            <a:ext cx="4114800" cy="1444752"/>
          </a:xfrm>
          <a:prstGeom prst="roundRect">
            <a:avLst>
              <a:gd name="adj" fmla="val 506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347472"/>
          </a:xfrm>
          <a:prstGeom prst="roundRect">
            <a:avLst>
              <a:gd name="adj" fmla="val 1842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47472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de equilibrio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419856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que iguala oferta y demanda de trabajo. En México está muy influenciado por el salario mínimo y la informalidad.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1148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114800" cy="347472"/>
          </a:xfrm>
          <a:prstGeom prst="roundRect">
            <a:avLst>
              <a:gd name="adj" fmla="val 18421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663440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laboral informal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419856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productiva fuera de la regulación formal: sin contrato, sin seguridad social, sin registro contable. ~54% de la PEA en México.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indicadores estratégicos del mercado laboral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responde una pregunta distinta sobre el mercado. Ninguno por sí solo cuenta la historia completa.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20624" y="12070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Desocupación (TD)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39312" y="1207008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8912" y="15727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Desocupados / PEA × 100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11680" y="15544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~2.5–3.0% en México. Baja vs. OCDE porque el sector informal absorbe a quienes no encuentran empleo formal.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07008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828032" y="12070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Participación (TP)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1207008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57276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5727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 / Pob. 15+ × 100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19088" y="15544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presión real sobre el mercado. Menor participación puede ocultar desánimo.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2468880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47472" y="2468880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0624" y="246888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Subocupación (TS)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39312" y="2468880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~7-8%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283464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38912" y="28346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Subocupados / Ocupados × 100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011680" y="281635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el desempleo 'disfrazado' de ocupación a tiempo parcial involuntaria.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3F0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28032" y="246888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 Laboral (TIL2)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2468880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83464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46320" y="28346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Ocup. informales / Ocup. no agro × 100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19088" y="281635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oficial de INEGI. Incluye informales en empresas formales e informales.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373075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47472" y="3730752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20624" y="373075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Ocupación (TO)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39312" y="3730752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8912" y="4096512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38912" y="40965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Ocupados / Pob. 15+ × 100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011680" y="407822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 la TP: la diferencia entre TP y TO es la tasa de desocupación relativa.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73075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754880" y="3730752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828032" y="373075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Laboral (BL)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46720" y="3730752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~15-16%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4096512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846320" y="40965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(Desoc.+Subocu.+PNEA disp) / (PEA+PNEA disp) × 100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19088" y="407822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más comprehensivo. Incluye desocupados, subocupados y PNEA disponible (desempleo oculto).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población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PEA, PNEA, ocupados, desocupados e informalidad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clasificación poblacional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91840" y="804672"/>
            <a:ext cx="2560320" cy="475488"/>
          </a:xfrm>
          <a:prstGeom prst="roundRect">
            <a:avLst>
              <a:gd name="adj" fmla="val 1346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91840" y="8046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15+ años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286000" y="1536192"/>
            <a:ext cx="4572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286000" y="1536192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0" y="1536192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1764792"/>
            <a:ext cx="3108960" cy="475488"/>
          </a:xfrm>
          <a:prstGeom prst="roundRect">
            <a:avLst>
              <a:gd name="adj" fmla="val 13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7647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 — Económicamente Activa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764792"/>
            <a:ext cx="3108960" cy="475488"/>
          </a:xfrm>
          <a:prstGeom prst="roundRect">
            <a:avLst>
              <a:gd name="adj" fmla="val 13462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03520" y="17647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PNEA — No Económicamente Activa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224028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2496312"/>
            <a:ext cx="27432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1440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5760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37160" y="2697480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37160" y="269748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2697480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743200" y="2697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1832" y="3136392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37160" y="336499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37160" y="33649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Sub-ocupada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24028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577840" y="2496312"/>
            <a:ext cx="2560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57784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38160" y="24963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919472" y="2697480"/>
            <a:ext cx="1508760" cy="438912"/>
          </a:xfrm>
          <a:prstGeom prst="roundRect">
            <a:avLst>
              <a:gd name="adj" fmla="val 14583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26974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2697480"/>
            <a:ext cx="1783080" cy="438912"/>
          </a:xfrm>
          <a:prstGeom prst="roundRect">
            <a:avLst>
              <a:gd name="adj" fmla="val 1458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223760" y="269748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disponible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4096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 (millones de personas)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" y="4425696"/>
            <a:ext cx="146304" cy="14630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8640" y="4407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Pob. 15+: 104.1M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4425696"/>
            <a:ext cx="146304" cy="1463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520440" y="4407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PEA: 61.1M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4425696"/>
            <a:ext cx="146304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92240" y="4407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Ocupados: 59.6M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7472" y="4663440"/>
            <a:ext cx="146304" cy="1463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48640" y="4645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Desocupados: 1.6M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19272" y="4663440"/>
            <a:ext cx="146304" cy="146304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520440" y="4645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PNEA: 43.0M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91072" y="4663440"/>
            <a:ext cx="146304" cy="146304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92240" y="4645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Disponibles: 4.9M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Económicamente Activa (PEA)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4160520" cy="4133088"/>
          </a:xfrm>
          <a:prstGeom prst="roundRect">
            <a:avLst>
              <a:gd name="adj" fmla="val 1770"/>
            </a:avLst>
          </a:prstGeom>
          <a:solidFill>
            <a:srgbClr val="E8F8F5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77724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Ocupada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2801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realizan una actividad económica generando valor. La oferta de sus servicios laborales es demandada por una contraparte.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9385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haber trabajado al menos UNA HORA durante la semana de referencia, o haber mantenido vínculo laboral activo durante una ausencia temporal.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615184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Subordinados remunerados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Empleadores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Trabajadores por cuenta propia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Trabajadores sin pago (familiares)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777240"/>
            <a:ext cx="4160520" cy="4133088"/>
          </a:xfrm>
          <a:prstGeom prst="roundRect">
            <a:avLst>
              <a:gd name="adj" fmla="val 1770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36008" y="77724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36008" y="77724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Desocupada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sin trabajo que han emprendido acciones concretas de búsqueda de empleo con disponibilidad inmediata.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Distinción clave: no basta con no tener trabajo. Es necesario haber buscado activamente en el último mes Y poder empezar esta semana o la próxima.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615184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 es desocupación?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trabajo pero no busca (PNEA)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recibe transferencias sin buscar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Desistió de buscar por desánimo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88620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E76F51">
              <a:alpha val="12000"/>
            </a:srgbClr>
          </a:solidFill>
          <a:ln w="635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0060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 = Desocupados / PEA × 100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mide la presión sobre el mercado laboral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No Económicamente Activa (PNEA)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548640"/>
          </a:xfrm>
          <a:prstGeom prst="roundRect">
            <a:avLst>
              <a:gd name="adj" fmla="val 10000"/>
            </a:avLst>
          </a:prstGeom>
          <a:solidFill>
            <a:srgbClr val="6B46C1">
              <a:alpha val="14000"/>
            </a:srgbClr>
          </a:solidFill>
          <a:ln w="635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30352" y="777240"/>
            <a:ext cx="8083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no ocupadas cuya subsistencia se basa en transferencias y que NO ejercen presión sobre el mercado laboral mediante búsqueda activa de empleo.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444752"/>
            <a:ext cx="4160520" cy="3401568"/>
          </a:xfrm>
          <a:prstGeom prst="roundRect">
            <a:avLst>
              <a:gd name="adj" fmla="val 2151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4160520" cy="420624"/>
          </a:xfrm>
          <a:prstGeom prst="roundRect">
            <a:avLst>
              <a:gd name="adj" fmla="val 15217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PNEA Disponible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192024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trabajan ni buscan porque piensan que no hay oportunidades. Actitud pasiva pero no indiferente: desearían trabajar si hubiera opciones.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76148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Trabajadores desanimados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Personas que esperan respuesta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Quien no busca por razones familiares temporales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3657600"/>
            <a:ext cx="3822192" cy="201168"/>
          </a:xfrm>
          <a:prstGeom prst="roundRect">
            <a:avLst>
              <a:gd name="adj" fmla="val 18182"/>
            </a:avLst>
          </a:prstGeom>
          <a:solidFill>
            <a:srgbClr val="E9962A">
              <a:alpha val="15000"/>
            </a:srgbClr>
          </a:solidFill>
          <a:ln w="508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2064" y="365760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2026: ~4.9M · 11.4% de la PNEA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1444752"/>
            <a:ext cx="4160520" cy="3401568"/>
          </a:xfrm>
          <a:prstGeom prst="roundRect">
            <a:avLst>
              <a:gd name="adj" fmla="val 2151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636008" y="1444752"/>
            <a:ext cx="4160520" cy="420624"/>
          </a:xfrm>
          <a:prstGeom prst="roundRect">
            <a:avLst>
              <a:gd name="adj" fmla="val 1521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36008" y="144475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PNEA No disponible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trabajan, no buscan y no tienen disponibilidad para incorporarse al mercado laboral, ya sea por responsabilidades, impedimentos o falta de interés.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76148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Estudiantes de tiempo completo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Quehaceres del hogar (sin intención de cambiar)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Jubilados y pensionados satisfechos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Personas con discapacidad permanente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657600"/>
            <a:ext cx="3822192" cy="201168"/>
          </a:xfrm>
          <a:prstGeom prst="roundRect">
            <a:avLst>
              <a:gd name="adj" fmla="val 18182"/>
            </a:avLst>
          </a:prstGeom>
          <a:solidFill>
            <a:srgbClr val="64748B">
              <a:alpha val="15000"/>
            </a:srgbClr>
          </a:solidFill>
          <a:ln w="508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00600" y="365760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2026: ~38.1M · 88.6% de la PNEA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4846320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PNEA disponible es clave para la Brecha Laboral — representa desempleo oculto que presiona el mercado de forma latente.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informalidad laboral: TIL1 vs. TIL2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informalidad no es un concepto único. La ENOE distingue dos dimensiones: el tipo de empresa (TIL1) y las condiciones del trabajador (TIL2).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TIL1 — Sector informal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105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tipo de empresa trabajas?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que operan con recursos del hogar sin contabilidad separada (Bat. 4 COE: TUE2=5). No importa si tú tienes IMSS.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65176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3C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clase_obr == 2  →  ~27% de ocupados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962656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Tianguis, talleres familiares, negocios sin RFC ni registros contables propios.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137160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6008" y="137160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36008" y="13716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TIL2 — Ocupación informal (oficial)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8105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¿Tú tienes seguridad social?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sin IMSS/ISSSTE por su trabajo, sin importar si trabajan en empresa formal o informal (Bat. 6: EMP_PPAL=1).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65176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emp_ppal == 1  →  ~54% de ocupados no agro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oficial del INEGI. Incluye TIL1 + informales en empresas formales.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584448"/>
            <a:ext cx="8449056" cy="1389888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12064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captura cada tasa?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4048" y="3950208"/>
            <a:ext cx="8430768" cy="205740"/>
          </a:xfrm>
          <a:prstGeom prst="rect">
            <a:avLst/>
          </a:prstGeom>
          <a:solidFill>
            <a:srgbClr val="0A2342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8912" y="3977640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trabajador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75504" y="397764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0296" y="397764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4155948"/>
            <a:ext cx="8430768" cy="205740"/>
          </a:xfrm>
          <a:prstGeom prst="rect">
            <a:avLst/>
          </a:prstGeom>
          <a:solidFill>
            <a:srgbClr val="F1F5F9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38912" y="4183380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informal (negocio sin contabilidad)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75504" y="418338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418338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4361688"/>
            <a:ext cx="8430768" cy="20574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38912" y="4389120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formal, empleado sin IMSS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5504" y="43891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43891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4567428"/>
            <a:ext cx="8430768" cy="205740"/>
          </a:xfrm>
          <a:prstGeom prst="rect">
            <a:avLst/>
          </a:prstGeom>
          <a:solidFill>
            <a:srgbClr val="F1F5F9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38912" y="4594860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doméstico sin prestaciones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75504" y="459486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0296" y="459486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4048" y="4773168"/>
            <a:ext cx="8430768" cy="20574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38912" y="4800600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sin contrato ni seguridad social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75504" y="480060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0296" y="480060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especiales y conceptos clave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804672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Iniciadores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207008"/>
            <a:ext cx="2505456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trabajo acordado que empezará pronto (P1c=11). La ENOE los clasifica como DESOCUPADOS porque el empleo aún no se concretó.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80467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73552" y="804672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73552" y="804672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 temporales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207008"/>
            <a:ext cx="2505456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trabajaron esa semana pero tienen empleo activo. Son OCUPADOS si hay nexo (huelga, permiso con goce) o si regresan en &lt;4 semanas.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80467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761488" cy="347472"/>
          </a:xfrm>
          <a:prstGeom prst="roundRect">
            <a:avLst>
              <a:gd name="adj" fmla="val 18421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35040" y="804672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la hora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63056" y="1207008"/>
            <a:ext cx="2505456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hora de trabajo en la semana de referencia es suficiente para ser clasificado como ocupado. Razón: comparabilidad OIT y contabilidad de horas.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834640"/>
            <a:ext cx="4206240" cy="1993392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47472" y="2834640"/>
            <a:ext cx="4206240" cy="347472"/>
          </a:xfrm>
          <a:prstGeom prst="roundRect">
            <a:avLst>
              <a:gd name="adj" fmla="val 1842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7472" y="28346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vs. Ocupación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236976"/>
            <a:ext cx="3950208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= relación subordinada (jefe-empleado). Ocupación = más amplio: incluye autónomos, cuentapropistas, familiares sin pago. La ENOE mide ocupación porque el autoempleo es masivo en México (~22%).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2834640"/>
            <a:ext cx="4059936" cy="1993392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736592" y="2834640"/>
            <a:ext cx="4059936" cy="347472"/>
          </a:xfrm>
          <a:prstGeom prst="roundRect">
            <a:avLst>
              <a:gd name="adj" fmla="val 18421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36592" y="283464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formal vs. informal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236976"/>
            <a:ext cx="3803904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lo mismo empresa formal vs. informal (TIL1) que trabajador formal vs. informal (TIL2). Un mesero en una empresa con RFC pero sin IMSS es formal para TIL1 e informal para TIL2. La brecha TIL2-TIL1 (~27 pp) mide la informalidad 'escondida' dentro del sector formal.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33272"/>
          </a:xfrm>
          <a:prstGeom prst="rect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dónde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sacamos esos datos?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los recolecta? ¿Cuántas veces al año? ¿A quién le preguntan?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El INEGI, con la Encuesta Nacional de Ocupación y Empleo (ENOE)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ENOE?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Historia, características y alcance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ENOE en México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y contexto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ECMO — primera encuesta de empleo
</a:t>
            </a: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ENEU — encuesta urbana por ciudades
</a:t>
            </a: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— cobertura nacional incluyendo rural
</a:t>
            </a:r>
            <a:r>
              <a:rPr lang="en-US" sz="115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— unifica ENE + ENEU con nuevo marco conceptual OIT/OCDE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31272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343814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 · OCDE · Grupo de París · Grupo Delhi · ONU · ISWGNA · ACLAN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6008" y="777240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00600" y="84124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 la ENOE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822192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Encuesta continua en hogares, aplicada cada trimestre</a:t>
            </a:r>
          </a:p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Cobertura: nacional, 32 entidades, 39 ciudades autorrepresentadas, complemento urbano y rural</a:t>
            </a:r>
          </a:p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Universo: población de 12 años y más (publicación oficial: 15+)</a:t>
            </a:r>
          </a:p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Muestra: 150,449 viviendas por trimestre</a:t>
            </a:r>
          </a:p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Frecuencia: indicadores mensuales y trimestrales</a:t>
            </a:r>
          </a:p>
          <a:p>
            <a:pPr>
              <a:buNone/>
            </a:pPr>
            <a:r>
              <a:rPr lang="es-MX" sz="1100" dirty="0">
                <a:solidFill>
                  <a:srgbClr val="64748B"/>
                </a:solidFill>
              </a:rPr>
              <a:t>Dos cuestionarios: CS (Sociodemográfico) + COE (Ocupación y Empleo)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Las dos tablas clave: SDEM y COE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804672"/>
            <a:ext cx="8449056" cy="475488"/>
          </a:xfrm>
          <a:prstGeom prst="round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804672"/>
            <a:ext cx="80832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FFFFFF"/>
                </a:solidFill>
                <a:latin typeface="Calibri"/>
              </a:rPr>
              <a:t>Los microdatos de la ENOE llegan en dos archivos con roles distintos. Antes de clasificar a nadie necesitas entender qué contiene cada uno y por qué ambos son necesarios.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408176"/>
            <a:ext cx="4160520" cy="3401568"/>
          </a:xfrm>
          <a:prstGeom prst="round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" y="1408176"/>
            <a:ext cx="4160520" cy="420624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408176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SDEMT126 — Sociodemográfico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883664"/>
            <a:ext cx="3822191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La tabla MAESTRA. Una fila por residente del hogar, incluyendo menores.
Aquí viven:
• El ponderador FAC_TRI — sin él no puedes expandir resultados
• Los campos precodificados: CLASE1, CLASE2, EMP_PPAL, SUB_O — son el árbol de decisión ya resuelto por el INEGI
• Variables de filtro: R_DEF, C_RES, EDA
• Variables sociodemográficas: sexo, edad, escolaridad, estado conyugal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1408176"/>
            <a:ext cx="4160520" cy="3401568"/>
          </a:xfrm>
          <a:prstGeom prst="roundRect">
            <a:avLst/>
          </a:prstGeom>
          <a:solidFill>
            <a:srgbClr val="FFF8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36008" y="1408176"/>
            <a:ext cx="4160520" cy="42062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408176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COE1T126 — Cuestionario de Ocupación y Empleo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83664"/>
            <a:ext cx="3822191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La tabla 'rudimentaria'. Una fila por persona de 12+ años. Contiene las RESPUESTAS BRUTAS tal como las captó el entrevistador.
Aquí viven:
• P1, P1a1, P1a2, P1b, P1c, P1d, P1e — preguntas de ocupación
• P2_1, P2_2, P2_3, P2b, P2c, P2e, P2f, P2g1, P2g2 — preguntas de desocupación y disponibilidad
NO contiene el ponderador. Para calcular indicadores debes hacer el JOIN con SDEM usando las 9 llaves.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846320"/>
            <a:ext cx="8449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Calibri"/>
              </a:rPr>
              <a:t>Diferencia clave: SDEM tiene el 'resultado' (precodificado). COE tiene las 'respuestas brutas'. Para replicar hay que ir de COE → reconstruir el árbol → validar contra SDEM.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 datos de la ENOE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procesamiento sigue una cadena secuencial antes de que los microdatos lleguen al usuario: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1188720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7.1–7.3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188720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89888" y="12252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y validación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89888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concentran archivos de captura de campo. Validación por entidad detecta inconsistencias, rangos imposibles y cuestionarios incompletos.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1755648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47472" y="1901952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47472" y="190195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7.4–7.5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34440" y="1901952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89888" y="1938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Ponderadores (FAC_TRI / FAC_MEN)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89888" y="2176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calculan y asignan los factores de expansión aplicando tres ajustes: factor base (inverso de probabilidad), no respuesta, y anclaje a proyección demográfica.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2468880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47472" y="2615184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7472" y="2615184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34440" y="2615184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389888" y="2651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precodificadas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89888" y="28895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aplica 'Reconstrucción de variables' y construye CLASE1, CLASE2, CLASE3, EMP_PPAL, SUB_O, TUE_PPAL directamente en la tabla SOCIODEMOGRÁFICO.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" y="3182112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47472" y="3328416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" y="3328416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34440" y="3328416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389888" y="3364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estratégicos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89888" y="36027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tabulados mensuales y trimestrales mediante sumas ponderadas (FAC_TRI) según las variables precodificadas.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3895344"/>
            <a:ext cx="0" cy="146304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47472" y="4041648"/>
            <a:ext cx="804672" cy="566928"/>
          </a:xfrm>
          <a:prstGeom prst="roundRect">
            <a:avLst>
              <a:gd name="adj" fmla="val 967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47472" y="4041648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7.8–7.11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34440" y="4041648"/>
            <a:ext cx="7562088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389888" y="40782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microdatos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389888" y="43159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archivos públicos (CSV/DBF), metadatos DDI, datos abiertos, boletín mensual y boletín trimestral en inegi.org.mx.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encontrar los datos: SDEM y COE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https://www.inegi.org.mx/programas/enoe/15ymas/  →  Microdatos  →  seleccionar trimestre y año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SDEMT126 — Sociodemográfico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4708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residente del hogar. Es la tabla MAESTRA.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2176272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22037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r_def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43584" y="2212848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resultado de la entrevista (00=lograda)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" y="2468880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24963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c_res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43584" y="2505456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condición de residencia (1 ó 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" y="2761488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43584" y="2798064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edad del residente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" y="3054096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30815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8640" y="308152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fac_tri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243584" y="3090672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factor de expansión trimestral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" y="3346704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8640" y="337413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48640" y="337413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fac_men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243584" y="3383280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factor de expansión mensual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" y="3639312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48640" y="366674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48640" y="36667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243584" y="3675888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PEA(1) o PNEA(2) [PRECODIFICADO]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" y="3931920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48640" y="395935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48640" y="39593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243584" y="3968496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Ocup(1)/Desoc(2)/Disp(3)/NDisp(4) [PRECODIFICADO]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064" y="4224528"/>
            <a:ext cx="3822192" cy="27432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48640" y="42519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emp_ppal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243584" y="4261104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informalidad laboral TIL2 [PRECODIFICADO]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2064" y="4517136"/>
            <a:ext cx="382219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48640" y="454456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48640" y="454456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sub_o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243584" y="4553712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subocupación [PRECODIFICADO]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36008" y="137160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636008" y="137160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636008" y="13716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COE1T126 — Cuestionario de Ocupación 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00600" y="184708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persona de 12+ con entrevista lograda. Contiene las RESPUESTAS BRUTAS.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00600" y="2176272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4837176" y="219456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837176" y="21945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532120" y="220370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¿Trabajó al menos 1 hora la semana pasada?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2446020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4837176" y="246430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837176" y="246430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p1a1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532120" y="24734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¿Realizó actividad con ingreso?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00600" y="2715768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4837176" y="273405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837176" y="273405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p1a2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532120" y="27432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¿Ayudó en tierras o negocio familiar?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00600" y="2985516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4837176" y="300380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837176" y="30038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p1b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532120" y="301294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¿Tiene empleo aunque no trabajó?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00600" y="3255264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4837176" y="327355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4837176" y="32735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p1c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532120" y="32826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¿Por qué no trabajó? (causa de ausencia)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800600" y="3525012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4837176" y="354330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4837176" y="354330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532120" y="355244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¿Su empleo continuará?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800600" y="3794760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4837176" y="381304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4837176" y="381304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532120" y="382219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¿Regresa en &lt;4 semanas?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800600" y="4064508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4837176" y="4082796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4837176" y="40827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p2_1/2/3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532120" y="40919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¿Buscó trabajo? (modalidades)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800600" y="4334256"/>
            <a:ext cx="3822192" cy="256032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4837176" y="435254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4837176" y="43525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p2b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532120" y="43616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¿Cuándo podría empezar a trabajar?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800600" y="4604004"/>
            <a:ext cx="3822192" cy="256032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4837176" y="4622292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4837176" y="46222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p2f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532120" y="463143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¿Desea trabajar?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 indicadores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ENOE desde microdatos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2212848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041C2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debes calcular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265176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PEA, PNEA, Ocupados, Desocupados (cifras absolutas)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Desocupación (TD) — trimestral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Participación Económica (TP)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Tasa de Informalidad Laboral (TIL2)</a:t>
            </a:r>
          </a:p>
          <a:p>
            <a:pPr>
              <a:buNone/>
            </a:pPr>
            <a:r>
              <a:rPr lang="es-MX" sz="1050" dirty="0">
                <a:solidFill>
                  <a:srgbClr val="A8D8F0"/>
                </a:solidFill>
              </a:rPr>
              <a:t>Gráfica de serie de tiempo para cada indicador: T1-T4 2024, T1-T4 2025 y T1 2026</a:t>
            </a:r>
          </a:p>
        </p:txBody>
      </p:sp>
      <p:sp>
        <p:nvSpPr>
          <p:cNvPr id="8" name="Shape 6"/>
          <p:cNvSpPr/>
          <p:nvPr/>
        </p:nvSpPr>
        <p:spPr>
          <a:xfrm>
            <a:off x="5833872" y="2212848"/>
            <a:ext cx="2944368" cy="2606040"/>
          </a:xfrm>
          <a:prstGeom prst="roundRect">
            <a:avLst>
              <a:gd name="adj" fmla="val 2807"/>
            </a:avLst>
          </a:prstGeom>
          <a:solidFill>
            <a:srgbClr val="041C2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8932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necesarios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26517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1000" dirty="0">
                <a:solidFill>
                  <a:srgbClr val="A8D8F0"/>
                </a:solidFill>
              </a:rPr>
              <a:t>SDEMT126.csv (SDEM T1 2026)</a:t>
            </a:r>
          </a:p>
          <a:p>
            <a:pPr>
              <a:buNone/>
            </a:pPr>
            <a:r>
              <a:rPr lang="es-MX" sz="1000" dirty="0">
                <a:solidFill>
                  <a:srgbClr val="A8D8F0"/>
                </a:solidFill>
              </a:rPr>
              <a:t>COE1T126.csv (COE1 T1 2026)</a:t>
            </a:r>
          </a:p>
          <a:p>
            <a:pPr>
              <a:buNone/>
            </a:pPr>
            <a:r>
              <a:rPr lang="es-MX" sz="1000" dirty="0">
                <a:solidFill>
                  <a:srgbClr val="A8D8F0"/>
                </a:solidFill>
              </a:rPr>
              <a:t>Repetir para T2-T4 2024 y 2025</a:t>
            </a:r>
          </a:p>
          <a:p>
            <a:pPr>
              <a:buNone/>
            </a:pPr>
            <a:r>
              <a:rPr lang="es-MX" sz="1000" dirty="0">
                <a:solidFill>
                  <a:srgbClr val="A8D8F0"/>
                </a:solidFill>
              </a:rPr>
              <a:t>Script: indicadores_enoe_final.R</a:t>
            </a:r>
          </a:p>
        </p:txBody>
      </p:sp>
      <p:sp>
        <p:nvSpPr>
          <p:cNvPr id="11" name="Text 9"/>
          <p:cNvSpPr/>
          <p:nvPr/>
        </p:nvSpPr>
        <p:spPr>
          <a:xfrm>
            <a:off x="5989320" y="4315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Descarga: inegi.org.mx/programas/enoe/15ymas/#Microdatos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80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3840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82296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800" b="1">
                <a:solidFill>
                  <a:srgbClr val="FFFFFF"/>
                </a:solidFill>
              </a:rPr>
              <a:t>¿Cómo categoriza la ENOE
a cada persona?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" y="2212848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¿La empleada del hogar es ocupada?
→ Sí si trabajó ≥1h y recibe pago. Si trabaja gratis para su familia, depende de la inst. 2.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36592" y="2212848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4632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¿El jubilado es desocupado?
→ No. Es PNEA no disponible (P2f=3, no desea trabajar). No está en la PEA.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871216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¿El vendedor de chicles en el semáforo?
→ Sí, ocupado (inst. 1 o 2). Trabaja aunque sea informal. TIL2=1.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2871216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46320" y="2944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¿Estudiante que trabaja fines de semana?
→ Ocupada. PEA. Aunque estudie, si trabajó ≥1h entra por inst. 1.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529584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6027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¿Campesino que cultiva solo para comer?
→ Ocupado por inst. 2 (ayudó en tierras o negocio familiar, P1a2=2).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3529584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6000"/>
            </a:srgbClr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36027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</a:rPr>
              <a:t>¿Mamá que cuida hijos tiempo completo?
→ PNEA. Si quisiera trabajar pero no busca: disponible. Si no quiere: no disponible (P2f=3).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46634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con precisión, hace falta ir a fondo en los microdatos y en la metodología de construcción de la ENOE.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estadístico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muestreo de la ENOE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encuestar, cuántos y cómo?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estadístico de la ENOE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muestral de la ENOE es probabilístico, bietápico, estratificado y por conglomerados. Esto garantiza que los resultados se generalicen a toda la población de México.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" y="1389888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Probabilístico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810512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vivienda en México tiene una probabilidad conocida y calculable de ser seleccionada. Permite estimar el error de muestreo y construir intervalos de confianza.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Bietápico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810512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etapa: se seleccionan UPM (agrupaciones de manzanas) con probabilidad proporcional a su tamaño. Segunda etapa: se seleccionan viviendas dentro de cada UPM.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962656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47472" y="2962656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47472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383280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UPM se agrupan en 683 estratos (geográfico × sociodemográfico). Garantiza representatividad en cada subdominio de interés.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962656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2962656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6344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conglomerados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383280"/>
            <a:ext cx="38404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UPM es un conglomerado de viviendas. Más eficiente operativamente que seleccionar viviendas individuales dispersas en el territorio.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" y="4864608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última de observación: persona de 15 años y más residente habitual o nuevo residente de la vivienda seleccionada.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dominios de estudio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se divide en tres dominios mutuamente excluyentes. Cada uno tiene su propia submuestra y resultados estadísticamente independientes.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2743200" cy="3639312"/>
          </a:xfrm>
          <a:prstGeom prst="roundRect">
            <a:avLst>
              <a:gd name="adj" fmla="val 2667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ciudades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autorrepresentadas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184708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1B6CA8">
              <a:alpha val="2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0392" y="18470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45.7% de la población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157984"/>
            <a:ext cx="2487168" cy="261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Zona metropolitana o centro urbano según SUN 2018 (CONAPO/SEDATU)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38 zonas metropolitanas + Ciudad del Carmen (centro urbano)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Criterios: político, económico, crecimiento y desarrollo urbano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Muestra mínima: 1,965 viviendas por ciudad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CDMX: 6,149 · GDL/MTY/PUE/TOR/LEÓ: &gt;3,000 viviendas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Resultados estadísticos independientes por ciudad</a:t>
            </a:r>
          </a:p>
        </p:txBody>
      </p:sp>
      <p:sp>
        <p:nvSpPr>
          <p:cNvPr id="12" name="Shape 10"/>
          <p:cNvSpPr/>
          <p:nvPr/>
        </p:nvSpPr>
        <p:spPr>
          <a:xfrm>
            <a:off x="3291840" y="1207008"/>
            <a:ext cx="2743200" cy="3639312"/>
          </a:xfrm>
          <a:prstGeom prst="roundRect">
            <a:avLst>
              <a:gd name="adj" fmla="val 2667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291840" y="1207008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91840" y="12070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Complemento urbano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alta densidad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184708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9962A">
              <a:alpha val="20000"/>
            </a:srgbClr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794760" y="18470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 de la población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19856" y="2157984"/>
            <a:ext cx="2487168" cy="261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Sub1: ciudades 100,000+ hab. no autorrepresentadas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Sub2: localidades 15,000–99,999 hab.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Sub3: localidades 2,500–14,999 hab.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UPM: 160–300 viviendas, manzanas del mismo municipio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20 viviendas seleccionadas por UPM</a:t>
            </a:r>
          </a:p>
        </p:txBody>
      </p:sp>
      <p:sp>
        <p:nvSpPr>
          <p:cNvPr id="18" name="Shape 16"/>
          <p:cNvSpPr/>
          <p:nvPr/>
        </p:nvSpPr>
        <p:spPr>
          <a:xfrm>
            <a:off x="6236208" y="1207008"/>
            <a:ext cx="2743200" cy="3639312"/>
          </a:xfrm>
          <a:prstGeom prst="roundRect">
            <a:avLst>
              <a:gd name="adj" fmla="val 2667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36208" y="1207008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36208" y="12070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39128" y="184708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76F51">
              <a:alpha val="20000"/>
            </a:srgbClr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39128" y="18470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 de la población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64224" y="2157984"/>
            <a:ext cx="2487168" cy="261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Localidades de menos de 2,500 habitantes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UPM: 160–300 viviendas (AGEB completas o partes)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Selección especial: 4 segmentos de ~5 viviendas c/u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No se puede saltar viviendas en territorio disperso</a:t>
            </a:r>
          </a:p>
          <a:p>
            <a:pPr>
              <a:buNone/>
            </a:pPr>
            <a:r>
              <a:rPr lang="es-MX" sz="950" dirty="0">
                <a:solidFill>
                  <a:srgbClr val="64748B"/>
                </a:solidFill>
              </a:rPr>
              <a:t>Mayor error estándar por menor densidad muestral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de la encuesta y estratificación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5074920" cy="2084832"/>
          </a:xfrm>
          <a:prstGeom prst="roundRect">
            <a:avLst>
              <a:gd name="adj" fmla="val 3509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5074920" cy="384048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80467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 estratos: geográfico × sociodemográfico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243584"/>
            <a:ext cx="4754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 geográfico: entidad + zona de tamaño de localidad (zonas 01 a 60). La división política y el tamaño de las localidades conforman de manera natural una estratificación geográfica.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 sociodemográfico: 34 indicadores del Censo 2010 (escolaridad, hacinamiento, servicios, etc.) agrupados en 4 grupos mediante análisis de conglomerados multivariados.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50408" y="804672"/>
            <a:ext cx="3246120" cy="2084832"/>
          </a:xfrm>
          <a:prstGeom prst="roundRect">
            <a:avLst>
              <a:gd name="adj" fmla="val 3509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550408" y="804672"/>
            <a:ext cx="3246120" cy="384048"/>
          </a:xfrm>
          <a:prstGeom prst="roundRect">
            <a:avLst>
              <a:gd name="adj" fmla="val 16667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50408" y="8046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 — Unidad Primaria de Muestreo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50408" y="1261872"/>
            <a:ext cx="3246120" cy="502920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3560" y="13533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 alto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30568" y="13533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80–160 viv.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45552" y="13533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viv./UPM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0408" y="1792224"/>
            <a:ext cx="3246120" cy="502920"/>
          </a:xfrm>
          <a:prstGeom prst="rect">
            <a:avLst/>
          </a:prstGeom>
          <a:solidFill>
            <a:srgbClr val="EEF2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623560" y="18836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urb.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0568" y="18836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160–300 viv.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45552" y="18836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viv./UPM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0408" y="2322576"/>
            <a:ext cx="3246120" cy="502920"/>
          </a:xfrm>
          <a:prstGeom prst="rect">
            <a:avLst/>
          </a:prstGeom>
          <a:solidFill>
            <a:srgbClr val="F7F9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623560" y="24140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0568" y="24140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160–300 viv.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45552" y="2414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seg. × 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999232"/>
            <a:ext cx="8449056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12064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bietápico — cómo se seleccionan las viviendas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" y="34564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12064" y="34564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etapa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" y="3767328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UPM con probabilidad proporcional a su tamaño (PPT). UPM más grandes tienen mayor probabilidad. Selección desde la Muestra Maestra 2012.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28416" y="34564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328416" y="34564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etapa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28416" y="3767328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viviendas dentro de la UPM con igual probabilidad: 5 (urb. alto) o 20 (complemento urbano/rural). Se actualiza el listado de viviendas en campo.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44768" y="34564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144768" y="34564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44768" y="3767328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P(vivienda) = P(UPM) × P(viv|UPM). El inverso de esta probabilidad total es el factor de expansión base (FAC_TRI antes de ajustes).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" y="4828032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total: 150,449 viviendas · 132,383 cara a cara · 18,066 telefónicas (desde 2ª entrevista)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necesito encuestar?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777240"/>
            <a:ext cx="8083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muestra se calcula usando como variable principal la Tasa de Desocupación Abierta (TDA), la que requiere el tamaño mayor, cubriendo automáticamente a las demás.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8449056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12064" y="1444752"/>
            <a:ext cx="808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(z² × p × q × DEFF) / (r² × p² × tnr × TNP × PHV)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" y="1956816"/>
            <a:ext cx="8083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tamaño de muestra — ENOE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578608"/>
            <a:ext cx="4160520" cy="2240280"/>
          </a:xfrm>
          <a:prstGeom prst="roundRect">
            <a:avLst>
              <a:gd name="adj" fmla="val 3265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7472" y="2578608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" y="25786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para la ENOE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962656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(confianza 90%)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18688" y="2971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223260"/>
            <a:ext cx="4096512" cy="25146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32324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TDA esperada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18688" y="32324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483864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(error relativo máx.)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18688" y="34930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744468"/>
            <a:ext cx="4096512" cy="25146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37536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DEFF (efecto de diseño)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18688" y="37536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4005072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40142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tnr (no respuesta)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18688" y="40142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4265676"/>
            <a:ext cx="4096512" cy="251460"/>
          </a:xfrm>
          <a:prstGeom prst="rect">
            <a:avLst/>
          </a:prstGeom>
          <a:solidFill>
            <a:srgbClr val="F8FAFC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57200" y="42748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TNP (participación)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18688" y="42748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4526280"/>
            <a:ext cx="4096512" cy="251460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57200" y="45354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PHV (hab. 15+/vivienda)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18688" y="45354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36008" y="2578608"/>
            <a:ext cx="4160520" cy="2240280"/>
          </a:xfrm>
          <a:prstGeom prst="roundRect">
            <a:avLst>
              <a:gd name="adj" fmla="val 3265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636008" y="2578608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636008" y="25786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Tamaños resultantes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2962656"/>
            <a:ext cx="4133088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36592" y="29718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(calculado)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06640" y="29718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150,033 viv.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259836"/>
            <a:ext cx="4133088" cy="283464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736592" y="326898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(ajustado)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06640" y="32689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150,449 viv.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557016"/>
            <a:ext cx="4133088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736592" y="356616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por entidad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06640" y="35661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3,460 viv.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3854196"/>
            <a:ext cx="4133088" cy="283464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736592" y="386334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por ciudad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406640" y="38633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1,965 viv.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4151376"/>
            <a:ext cx="4133088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36592" y="41605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406640" y="41605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6,149 viv.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4448556"/>
            <a:ext cx="4133088" cy="283464"/>
          </a:xfrm>
          <a:prstGeom prst="rect">
            <a:avLst/>
          </a:prstGeom>
          <a:solidFill>
            <a:srgbClr val="FFF8F0"/>
          </a:solidFill>
          <a:ln w="254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736592" y="445770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GDL/MTY/PUE/TOR/LEÓ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406640" y="44577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&gt;3,000 viv.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1">
                <a:solidFill>
                  <a:srgbClr val="FFFFFF"/>
                </a:solidFill>
              </a:rPr>
              <a:t>Distribución de la muestra entre estratos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50" i="1">
                <a:solidFill>
                  <a:srgbClr val="64748B"/>
                </a:solidFill>
              </a:rPr>
              <a:t>Dentro de cada entidad la muestra se distribuye proporcionalmente entre los estratos. Más viviendas donde hay más población, misma proporción en cada estrato.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3584448"/>
          </a:xfrm>
          <a:prstGeom prst="roundRect">
            <a:avLst>
              <a:gd name="adj" fmla="val 6250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10789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261872"/>
            <a:ext cx="7150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proporcional por estrato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08760" y="1554480"/>
            <a:ext cx="7150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n_eh = n_e × (N_eh / N_e)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 = viviendas en muestra para la entidad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N_eh = viviendas en el estrato h de la entidad 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 = total de viviendas en la entidad 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Efecto: entidades con más viviendas reciben más muestra, pero la proporción dentro de cada estrato es constante.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347472" y="4828032"/>
            <a:ext cx="8449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1">
                <a:solidFill>
                  <a:srgbClr val="64748B"/>
                </a:solidFill>
                <a:latin typeface="Calibri"/>
              </a:rPr>
              <a:t>Donde: n_eh = viviendas en estrato h de entidad e  ·  n_e = total de viviendas en muestra de entidad e  ·  N_eh = viviendas en el estrato h  ·  N_e = total viviendas en la entidad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expansión (ponderadores)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FAC_TRI es el 'peso estadístico' de cada persona. Indica a cuántas personas de características similares representa en la población.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25296"/>
            <a:ext cx="8449056" cy="475488"/>
          </a:xfrm>
          <a:prstGeom prst="roundRect">
            <a:avLst>
              <a:gd name="adj" fmla="val 1346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1225296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FAC_base = M × m*_i / (k × m_i × b)   ≡   1 / [P(UPM_i) × P(viv_j | UPM_i)]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viviendas en el estrato (Censo 2010)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14884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" y="2148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m*_i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2167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actualizadas en listado de campo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7472" y="2468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24871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en la UPM según Censo 2010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182880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681728" y="1828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 seleccionadas en el estrato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14884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81728" y="2148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167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seleccionadas por UPM (5, 20 o 4×5)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" y="294436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ajustes aplicados al factor base: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3291840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47472" y="3291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47472" y="3291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No respuesta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365760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FAC' = FAC_base × (v / v*). v = viviendas seleccionadas, v* = viviendas que respondieron en la UPM. Si 4 de 5 contestaron, las 4 cargan un 25% más para compensar la que no respondió.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291840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291840" y="3291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291840" y="3291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Proyección demográfica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19856" y="365760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FAC_TRI = FAC' × (Pob_INEGI / Pob_expandida). Ancla los totales a las proyecciones del INEGI al punto medio del levantamiento. Garantiza que sum(FAC_TRI) = población total.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3291840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236208" y="3291840"/>
            <a:ext cx="2743200" cy="329184"/>
          </a:xfrm>
          <a:prstGeom prst="roundRect">
            <a:avLst>
              <a:gd name="adj" fmla="val 19444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236208" y="3291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FAC_TRI vs FAC_MEN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64224" y="3657600"/>
            <a:ext cx="24871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FAC_TRI: usa los 5 paneles del trimestre → indicadores trimestrales oficiales.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FAC_MEN: usa paneles del mes activo → indicadores mensuales (IOOE). Mayor error estándar.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Selección de UPM y viviendas: dos etapas del muestreo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77240"/>
            <a:ext cx="844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64748B"/>
                </a:solidFill>
                <a:latin typeface="Calibri"/>
              </a:rPr>
              <a:t>Las UPM se seleccionan con Probabilidad Proporcional al Tamaño (PPT). Las viviendas dentro de la UPM se seleccionan con igual probabilidad.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70432"/>
            <a:ext cx="4160520" cy="2057400"/>
          </a:xfrm>
          <a:prstGeom prst="roundRect">
            <a:avLst/>
          </a:prstGeom>
          <a:solidFill>
            <a:srgbClr val="E8F4F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" y="1170432"/>
            <a:ext cx="4160520" cy="384048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7043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1ª etapa — Selección UPM (PPT)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27632"/>
            <a:ext cx="38221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A2342"/>
                </a:solidFill>
                <a:latin typeface="Courier New"/>
              </a:rPr>
              <a:t>P(UPM_i) = k_eh × m_i /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011680"/>
            <a:ext cx="3822191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UPM más grandes tienen mayor probabilidad. Esto hace que la probabilidad final de cualquier vivienda sea aproximadamente igual, sin importar el tamaño de su UPM.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834640"/>
            <a:ext cx="3822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Calibri"/>
              </a:rPr>
              <a:t>k_eh = UPM en el estrato  ·  m_i = viviendas en la UPM (Censo 2010)  ·  M = total viviendas en el estrato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1170432"/>
            <a:ext cx="4160520" cy="2057400"/>
          </a:xfrm>
          <a:prstGeom prst="roundRect">
            <a:avLst/>
          </a:prstGeom>
          <a:solidFill>
            <a:srgbClr val="FFF8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36008" y="1170432"/>
            <a:ext cx="4160520" cy="384048"/>
          </a:xfrm>
          <a:prstGeom prst="round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117043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2ª etapa — Selección de viviendas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27632"/>
            <a:ext cx="38221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A2342"/>
                </a:solidFill>
                <a:latin typeface="Courier New"/>
              </a:rPr>
              <a:t>P(viv_j | UPM_i) = b / m*_i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011680"/>
            <a:ext cx="3822191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  <a:latin typeface="Calibri"/>
              </a:rPr>
              <a:t>b = viviendas a seleccionar (5 en urb. alto, 20 en complemento y rural). m*_i = listado actualizado en campo (corrige viviendas nuevas o demolidas desde 2010).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834640"/>
            <a:ext cx="3822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Calibri"/>
              </a:rPr>
              <a:t>Selección con IGUAL probabilidad dentro de la UPM.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3273552"/>
            <a:ext cx="8449056" cy="896112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32841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A2342"/>
                </a:solidFill>
                <a:latin typeface="Cambria"/>
              </a:rPr>
              <a:t>Probabilidad total y factor de expansión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6393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CA8"/>
                </a:solidFill>
                <a:latin typeface="Courier New"/>
              </a:rPr>
              <a:t>P(vivienda) = P(UPM_i) × P(viv_j | UPM_i)     →     FAC_base = 1 / P(vivienda)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224528"/>
            <a:ext cx="8449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Calibri"/>
              </a:rPr>
              <a:t>El factor de expansión base se ajusta después por: (1) no-respuesta en la UPM · (2) anclaje a proyección demográfica del INEGI → FAC_TRI final.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 de la muestra: el panel de 5 visitas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8449056" cy="1389888"/>
          </a:xfrm>
          <a:prstGeom prst="roundRect">
            <a:avLst>
              <a:gd name="adj" fmla="val 5263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2064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rotar?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1704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medir el CAMBIO entre trimestres con menor varianza, sin agotar a los encuestados. La ENOE mantiene un traslape del 80% entre trimestres consecutivos: cada vivienda participa en exactamente 5 visitas y luego es reemplazada. Un traslape del 80% minimiza la varianza del estimador de cambio.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28600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paneles de rotación — cada trimestre se renueva 1 panel (20% de la muestra):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7472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38912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38912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8912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8912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1B6CA8">
              <a:alpha val="28000"/>
            </a:srgbClr>
          </a:solidFill>
          <a:ln w="381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8912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57400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057400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148840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48840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148840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48840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148840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148840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2A9D8F">
              <a:alpha val="28000"/>
            </a:srgbClr>
          </a:solidFill>
          <a:ln w="381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148840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48840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148840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67328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67328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58768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9962A">
              <a:alpha val="28000"/>
            </a:srgbClr>
          </a:solidFill>
          <a:ln w="381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858768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58768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9962A">
              <a:alpha val="28000"/>
            </a:srgbClr>
          </a:solidFill>
          <a:ln w="381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858768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58768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9962A">
              <a:alpha val="28000"/>
            </a:srgbClr>
          </a:solidFill>
          <a:ln w="381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858768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58768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3858768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58768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858768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77256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477256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68696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76F51">
              <a:alpha val="28000"/>
            </a:srgbClr>
          </a:solidFill>
          <a:ln w="381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568696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68696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E76F51">
              <a:alpha val="28000"/>
            </a:srgbClr>
          </a:solidFill>
          <a:ln w="381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568696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568696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568696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568696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568696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568696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5568696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87184" y="2633472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187184" y="2633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278624" y="3054096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6B46C1">
              <a:alpha val="28000"/>
            </a:srgbClr>
          </a:solidFill>
          <a:ln w="381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7278624" y="30540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278624" y="3364992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278624" y="336499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278624" y="3675888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278624" y="367588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278624" y="398678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7278624" y="39867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278624" y="429768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278624" y="4297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(sig.)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47472" y="4846320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clave: 1 visita por trimestre · 5 visitas totales por vivienda · 20% de renovación trimestral · Las UPM son permanentes (solo se renuevan viviendas)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captación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preguntamos a la gente?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de captación: CS y COE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cuestionarios aplicados secuencialmente en cada visita, primero el CS y luego el COE: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E8F4FD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— Cuestionario Sociodemográfico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" y="1682496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todos los residentes del hogar (0+ años)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primera visita (se actualiza en subsiguientes)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1945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captados por grupo de edad: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487168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0+ años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condición de residencia, parentesco, sexo, edad, lugar de nacimiento
</a:t>
            </a: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años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alfabetismo, nivel de instrucción, carrera, egreso
</a:t>
            </a: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años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número de hijos, situación conyugal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4462272"/>
            <a:ext cx="3822192" cy="274320"/>
          </a:xfrm>
          <a:prstGeom prst="roundRect">
            <a:avLst>
              <a:gd name="adj" fmla="val 13333"/>
            </a:avLst>
          </a:prstGeom>
          <a:solidFill>
            <a:srgbClr val="1B6CA8">
              <a:alpha val="14000"/>
            </a:srgbClr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2064" y="446227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cuestionario por HOGAR (no individual)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1188720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FFF8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636008" y="1188720"/>
            <a:ext cx="4160520" cy="438912"/>
          </a:xfrm>
          <a:prstGeom prst="roundRect">
            <a:avLst>
              <a:gd name="adj" fmla="val 14583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36008" y="118872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 — Cuestionario de Ocupación y Empleo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1682496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Universo: cada persona de 12+ años (individual)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todas las visitas, después del 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945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versiones: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Ampliado (COE-A): 11 baterías · T1 de cada año · información completa.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(COE-B): subconjunto del ampliado · T2, T3 y T4 · excluye baterías 9 y 10 · garantiza indicadores de coyuntura comparables.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4462272"/>
            <a:ext cx="3822192" cy="274320"/>
          </a:xfrm>
          <a:prstGeom prst="roundRect">
            <a:avLst>
              <a:gd name="adj" fmla="val 13333"/>
            </a:avLst>
          </a:prstGeom>
          <a:solidFill>
            <a:srgbClr val="E9962A">
              <a:alpha val="14000"/>
            </a:srgbClr>
          </a:solidFill>
          <a:ln w="635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00600" y="446227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cuestionario por PERSONA de 12+ años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temática del COE — 11 baterías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77824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93192" y="804672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98448" y="804672"/>
            <a:ext cx="1261872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44168" y="804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804672"/>
            <a:ext cx="374904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679192" y="804672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46520" y="804672"/>
            <a:ext cx="25603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92240" y="804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1155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84048" y="11795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84048" y="11795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98448" y="11521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actividad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33472" y="11521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¿Trabajó al menos 1h? ¿Tiene trabajo? → Clasifica ocupados vs. no ocupados.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11521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14584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" y="15224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84048" y="15224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98448" y="14950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 vs. PNEA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33472" y="14950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¿Buscó trabajo? ¿Está disponible? → Distingue desocupados, disponibles y no disponibles.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14950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ocupados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18013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84048" y="18653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84048" y="18653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98448" y="18379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y posición en ocupación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33472" y="18379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Oficio/tipo de trabajo, posición (subordinado vs. autónomo), condiciones laborales.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18379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21442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384048" y="22082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84048" y="22082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298448" y="21808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trabajo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33472" y="21808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económico. Permite clasificar SECTOR INFORMAL (unidad sin contabilidad separada → TIL1).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21808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24871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84048" y="25511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84048" y="25511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298448" y="25237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laboral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33472" y="25237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trabajadas, intensidad, permanencia. Permite medir SUBOCUPACIÓN (variable SUB_O).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46520" y="25237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28300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384048" y="28940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384048" y="28940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298448" y="28666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condiciones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633472" y="28666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Remuneración, acceso a instituciones de salud, lugar de trabajo → INFORMALIDAD LABORAL TIL2.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6520" y="28666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31729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384048" y="32369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384048" y="32369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298448" y="32095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secundario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633472" y="32095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secundaria y sus características principales.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46520" y="32095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" y="35158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384048" y="35798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384048" y="35798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8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298448" y="35524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otro trabajo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633472" y="35524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que buscan trabajo adicional o quieren cambiar (presión de movilidad laboral).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46520" y="35524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ocupados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7472" y="38587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384048" y="39227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384048" y="39227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9*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298448" y="38953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laboral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633472" y="38953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pérdida de trabajo: contexto, tiempo, causa. Solo COE Ampliado (T1).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46520" y="38953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4201668"/>
            <a:ext cx="8659368" cy="342900"/>
          </a:xfrm>
          <a:prstGeom prst="rect">
            <a:avLst/>
          </a:prstGeom>
          <a:solidFill>
            <a:srgbClr val="F8FAFC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384048" y="42656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384048" y="42656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10*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298448" y="42382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e ingresos no lab.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633472" y="42382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Remesas, programas gubernamentales, pensiones. Contexto de vulnerabilidad. Solo COE-A.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446520" y="42382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47472" y="4544568"/>
            <a:ext cx="8659368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384048" y="460857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384048" y="46085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11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298448" y="4581144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no económicas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633472" y="45811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quehaceres, cuidados, voluntariado. Contexto de inactividad (PNEA no disponible).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446520" y="45811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pob. 12+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47472" y="4864608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Baterías 9 y 10 solo disponibles en el COE Ampliado (T1 de cada año). El COE Básico (T2–T4) las omite.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clasifica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cada persona?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cuestionario a las categorías: árbol de decisión metodológico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decide la ENOE si alguien es OCUPADO?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1 (P1 a P1e): se aplica en orden. Una persona es OCUPADA si cumple AL MENOS UNA de las cuatro instancias: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38912" y="1207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1 — Declaración directa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24358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931920" y="124358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591056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'¿La semana pasada trabajó por lo menos una hora?' → Sí. La forma más directa. Captura ~95% de los ocupados. Aplica a quien reconoce haber trabajado.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Empleada de mostrador, obrero en fábrica, taxista, doctor en consultorio.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07008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846320" y="1207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2 — Trabajo no reconocido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39328" y="124358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339328" y="124358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P1a1=1 ó P1a2=2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64608" y="1591056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dijo 'no trabajé' pero realizó actividad con ingreso (P1a1=1) o ayudó en tierras/negocio familiar sin pago (P1a2=2). Captura trabajo que el informante no consideró 'trabajo'.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64608" y="2322576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Hijo que vendió tamales del negocio familiar. Señora que ayudó en el puesto del esposo.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054096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47472" y="3054096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8912" y="30540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3 — Ausente con nexo laboral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31920" y="309067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931920" y="309067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P1c∈{1-4} ó P1d=1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3438144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trabajó esa semana pero tiene empleo activo. P1c=01-04 (huelga, paro técnico, suspensión con goce, capacitación) o P1d=1 (el empleo continuará cuando regrese).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16966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Maestro de vacaciones de semana santa. Obrero en huelga. Trabajador de permiso con goce.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054096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54880" y="3054096"/>
            <a:ext cx="4206240" cy="329184"/>
          </a:xfrm>
          <a:prstGeom prst="roundRect">
            <a:avLst>
              <a:gd name="adj" fmla="val 19444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46320" y="30540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4 — Ausente sin nexo, regresa pronto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39328" y="309067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339328" y="309067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P1d∈{2,9} + P1e=1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64608" y="3438144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NO continuará (P1d=2) o no sabe (P1d=9), pero regresará en MENOS de 4 semanas (P1e=1). La brevedad de la ausencia la mantiene en la PEA ocupada.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64608" y="416966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Vendedor que dejó su puesto por enfermedad y ya va a volver. Trabajador despedido que consiguió otro rápido.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" y="4864608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es_ocupado = inst1 | inst2 | inst3 | inst4   →   equivale a clase2 == 1 en la tabla SDEM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decide la ENOE si alguien es DESOCUPADO?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 · INEGI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aplica a quienes NO son ocupados. Una persona es DESOCUPADA si no trabaja pero buscó activamente empleo con disponibilidad inmediata: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12064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Sub-condiciones comunes a los 3 tipos: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" y="1554480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2064" y="155448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búsqueda_activa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66544" y="1572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P2_1=1 (buscó en otro país) ó P2_2=2 (buscó en México) ó P2_3=3 (intentó poner negocio). Basta UNA modalidad.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28032" y="1554480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28032" y="155448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puede_empezar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82512" y="1572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P2b=1 (podría empezar esta/próxima semana) Y sin impedimento (P2c ≠ 2 ni 9). Distingue desocupado de disponible.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084832"/>
            <a:ext cx="8449056" cy="804672"/>
          </a:xfrm>
          <a:prstGeom prst="roundRect">
            <a:avLst>
              <a:gd name="adj" fmla="val 9091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47472" y="2084832"/>
            <a:ext cx="2331720" cy="804672"/>
          </a:xfrm>
          <a:prstGeom prst="roundRect">
            <a:avLst>
              <a:gd name="adj" fmla="val 795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7472" y="2084832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1 — Iniciador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176272"/>
            <a:ext cx="1691640" cy="621792"/>
          </a:xfrm>
          <a:prstGeom prst="roundRect">
            <a:avLst>
              <a:gd name="adj" fmla="val 588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743200" y="217627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!es_ocupado &amp;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P1c == 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98848" y="2176272"/>
            <a:ext cx="2852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trabajo acordado que empezará pronto (P1c=11). No se le pide búsqueda porque ya encontró trabajo. No pasa por las preguntas P2b/P2c.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88352" y="2194560"/>
            <a:ext cx="1335024" cy="585216"/>
          </a:xfrm>
          <a:prstGeom prst="roundRect">
            <a:avLst>
              <a:gd name="adj" fmla="val 6250"/>
            </a:avLst>
          </a:prstGeom>
          <a:solidFill>
            <a:srgbClr val="E76F51">
              <a:alpha val="18000"/>
            </a:srgbClr>
          </a:solidFill>
          <a:ln w="508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388352" y="2194560"/>
            <a:ext cx="1335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~15,000 personas T1 2026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980944"/>
            <a:ext cx="8449056" cy="804672"/>
          </a:xfrm>
          <a:prstGeom prst="roundRect">
            <a:avLst>
              <a:gd name="adj" fmla="val 9091"/>
            </a:avLst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47472" y="2980944"/>
            <a:ext cx="2331720" cy="804672"/>
          </a:xfrm>
          <a:prstGeom prst="roundRect">
            <a:avLst>
              <a:gd name="adj" fmla="val 7955"/>
            </a:avLst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7472" y="2980944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2 — Sin empleo con búsqueda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0" y="3072384"/>
            <a:ext cx="1691640" cy="621792"/>
          </a:xfrm>
          <a:prstGeom prst="roundRect">
            <a:avLst>
              <a:gd name="adj" fmla="val 588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743200" y="3072384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!es_ocupado &amp; P1b==2 &amp;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búsqueda_activa &amp;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puede_empezar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98848" y="3072384"/>
            <a:ext cx="2852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Declaró no tener empleo ni negocio (P1b=2), buscó activamente y puede empezar de inmediato. El caso OIT clásico de desocupado abierto.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88352" y="3090672"/>
            <a:ext cx="1335024" cy="585216"/>
          </a:xfrm>
          <a:prstGeom prst="roundRect">
            <a:avLst>
              <a:gd name="adj" fmla="val 6250"/>
            </a:avLst>
          </a:prstGeom>
          <a:solidFill>
            <a:srgbClr val="E9962A">
              <a:alpha val="18000"/>
            </a:srgbClr>
          </a:solidFill>
          <a:ln w="508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88352" y="3090672"/>
            <a:ext cx="1335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~1.4M personas T1 2026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877056"/>
            <a:ext cx="8449056" cy="804672"/>
          </a:xfrm>
          <a:prstGeom prst="roundRect">
            <a:avLst>
              <a:gd name="adj" fmla="val 9091"/>
            </a:avLst>
          </a:prstGeom>
          <a:solidFill>
            <a:srgbClr val="FEF0F0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47472" y="3877056"/>
            <a:ext cx="2331720" cy="804672"/>
          </a:xfrm>
          <a:prstGeom prst="roundRect">
            <a:avLst>
              <a:gd name="adj" fmla="val 7955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47472" y="3877056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3 — Ausente sin nexo con búsqueda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0" y="3968496"/>
            <a:ext cx="1691640" cy="621792"/>
          </a:xfrm>
          <a:prstGeom prst="roundRect">
            <a:avLst>
              <a:gd name="adj" fmla="val 588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743200" y="3968496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!es_ocupado &amp; P1d∈{2,9} &amp;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búsqueda_activa &amp;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puede_empezar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98848" y="3968496"/>
            <a:ext cx="2852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Venía de una ausencia y su empleo NO continuará (P1d=2 ó 9). Ya inició búsqueda con disponibilidad inmediata. Perdió su trabajo durante la semana de referencia.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88352" y="3986784"/>
            <a:ext cx="1335024" cy="585216"/>
          </a:xfrm>
          <a:prstGeom prst="roundRect">
            <a:avLst>
              <a:gd name="adj" fmla="val 6250"/>
            </a:avLst>
          </a:prstGeom>
          <a:solidFill>
            <a:srgbClr val="6B46C1">
              <a:alpha val="18000"/>
            </a:srgbClr>
          </a:solidFill>
          <a:ln w="508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388352" y="3986784"/>
            <a:ext cx="13350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~140,000 personas T1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4864608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es_desocupado = tipo1 | tipo2 | tipo3   →   equivale a clase2 == 2 en la tabla SDEM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disponible — criterios 1 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Son disponibles quienes NO son PEA, no son iniciadores, y desean trabajar con barrera TEMPORAL. El INEGI reconoce 7 caminos distintos para clasificar disponibilidad.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252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activamente, pero solo puede empezar en más de 4 semanas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517904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Tiene intención y ya actuó en el mercado, pero el inicio está diferido por razones logísticas o de proceso.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1264" y="126187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Consiguió una entrevista para el mes siguiente pero aún no tiene respuesta definitiva.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911095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2020824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2020824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956815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trabajo, pero está desalentada: cree que no hay oportunidades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2219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Realizó búsqueda pero el resultado fue nulo. Ahora asume que el mercado no tiene lugar para ella, aunque seguiría si apareciera algo.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1965960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Egresado que envió 20 CV sin una sola respuesta. Ya cree que no hay plazas, pero tomaría algo si apareciera.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615184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2724912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2724912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660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trabajo, desea trabajar, pero hay un obstáculo temporal concreto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92608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No está desalentada, quiere trabajar, tomó acciones de búsqueda, pero hay una barrera real y transitoria que impide el inicio inmediato.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2670048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Mamá que buscó trabajo pero no puede empezar hasta que termina el ciclo escolar de sus hijos.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319272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2336" y="3429000"/>
            <a:ext cx="804672" cy="438912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" y="3429000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364991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No buscó esa semana, pero desea trabajar y la razón fue 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63016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El deseo de trabajar existe. Algo puntual interrumpió la búsqueda esa semana, no una decisión permanente de no participar.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3374136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Persona que no buscó porque estuvo enferma esa semana. En cuanto se recupere, lo hará.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059936"/>
            <a:ext cx="8449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1">
                <a:solidFill>
                  <a:srgbClr val="1B6CA8"/>
                </a:solidFill>
                <a:latin typeface="Calibri"/>
              </a:rPr>
              <a:t>→ Continúa en la siguiente diapositiva: criterios 5, 6 y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4370832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Razón reversible: cuidado de hijos o enfermos · estudia · sin transporte · sin guardería · espera respuesta de solicitud.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disponible — criterios 5 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Continuación. Casos donde hay ambigüedad sobre el deseo de trabajar o el inicio no es inmediato, pero la barrera sigue siendo reversible.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1005840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78638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252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No sabe si desea trabajar, pero se declara disponible con barrera 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591056"/>
            <a:ext cx="4160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descarta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La persona se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declara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y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reversible. Su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declaración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pesa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más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duda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sobre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1264" y="1261872"/>
            <a:ext cx="3163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Joven que dice 'no sé si quiero trabajar' pero que 'sí podría si le ofrecieran algo cerca de su casa'.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350008"/>
            <a:ext cx="8449056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2459736"/>
            <a:ext cx="804672" cy="78638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2459736"/>
            <a:ext cx="8046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395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Desea trabajar, pero no puede empezar pronto por razón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60904"/>
            <a:ext cx="4160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Existe voluntad de trabajar, pero el momento de incorporación está diferido. La barrera es concreta y transitoria — no una decisión permanente de no participar en el mercado.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2404872"/>
            <a:ext cx="3163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Persona en recuperación posquirúrgica: quiere trabajar pero no puede empezar aún. Volverá cuando se recupere.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493008"/>
            <a:ext cx="8449056" cy="1005840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3602736"/>
            <a:ext cx="804672" cy="786384"/>
          </a:xfrm>
          <a:prstGeom prst="roundRect">
            <a:avLst/>
          </a:prstGeom>
          <a:solidFill>
            <a:srgbClr val="E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3602736"/>
            <a:ext cx="8046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disp_7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387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Buscó y puede empezar en 1 a 4 semanas — zona gris, casi desocupado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03904"/>
            <a:ext cx="4160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  <a:latin typeface="Calibri"/>
              </a:rPr>
              <a:t>Casi califica como desocupada. La diferencia es que la disponibilidad inmediata (esta semana o la próxima) no está garantizada. Por ese detalle, INEGI la clasifica en disponible.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3547872"/>
            <a:ext cx="31638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Persona que conseguirá empleo en 3 semanas. Prácticamente desocupada, pero el tiempo de espera la aleja del criterio estricto.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68172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Razón reversible: cuidado de hijos o enfermos · estudia · sin transporte · sin guardería · espera respuesta de solicitud.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no disponible — criterios 1 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Son no disponibles quienes NO son PEA ni disponibles. Lo que los une es no desear trabajar O tener una barrera PERMANENTE e irreversible.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118872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hay un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impedimento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físico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actual que lo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impide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8448" y="1378411"/>
            <a:ext cx="4402556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existe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condición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salud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u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otra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concreta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impide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incorporación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momento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Puede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transitoria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período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referencia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2704" y="1261872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con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embarazo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avanzado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su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médico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no se lo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permite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por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ahora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865376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1975104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1975104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1825997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0A2342"/>
                </a:solidFill>
                <a:latin typeface="Calibri"/>
              </a:rPr>
              <a:t>Tiene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esporádico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tan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ocasional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que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ninguna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instancia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lo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capturó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9304" y="2008877"/>
            <a:ext cx="4334256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Técnicamente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debería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ocupada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fue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tan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escaso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ella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reconoció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'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' al responder.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un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caso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frontera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PNEA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genuina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captura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imperfecta.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4" y="1911095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Albañil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trabajó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1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día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pasado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 No lo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reportó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como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primera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batería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523744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2633472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2633472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9304" y="251403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Declara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explícitamente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NO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89304" y="2678629"/>
            <a:ext cx="44117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más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directa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limpia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La persona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misma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cierra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puerta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sin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No hay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superar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simplemente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incorporarse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al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615184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Jubilado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satisfecho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con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su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pensión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Ama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de casa que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intención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buscar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empleo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nunca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182112"/>
            <a:ext cx="844905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2336" y="3291840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" y="3291840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318239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>
                <a:solidFill>
                  <a:srgbClr val="0A2342"/>
                </a:solidFill>
                <a:latin typeface="Calibri"/>
              </a:rPr>
              <a:t>No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sabe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si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y hay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una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razón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estructural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indisponibilidad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25880" y="3344087"/>
            <a:ext cx="429768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sobre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combinada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con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estructural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inclina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clasificación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hacia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Sin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señal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participación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reversible.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3236976"/>
            <a:ext cx="3154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mayor que dice 'no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sé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' y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menciona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'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ya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estoy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muy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vieja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para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eso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840480"/>
            <a:ext cx="8449056" cy="658368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02336" y="3950208"/>
            <a:ext cx="804672" cy="43891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" y="3950208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88620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Desalentada Y con impedimento concreto — doble barrera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1016" y="4086806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Cree que no hay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para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ella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(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desaliento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) y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además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tiene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un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obstáculo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real.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Ambas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condiciones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juntas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alejan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firmemente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1264" y="3895344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Ej: Mujer mayor en zona rural: 'no hay trabajo aquí' y además tiene artritis severa que le dificulta moverse.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1">
                <a:solidFill>
                  <a:srgbClr val="E76F51"/>
                </a:solidFill>
                <a:latin typeface="Calibri"/>
              </a:rPr>
              <a:t>→ Continúa en la siguiente diapositiva: criterios 6, 7, 8 y 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mbria"/>
              </a:rPr>
              <a:t>PNEA no disponible — criterios 6 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ENOE · INEGI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Continuación. Casos de incertidumbre total, barreras permanentes confirmadas, o caminos alternos del cuestionario que llevan al mismo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8449056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" y="1316736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1316736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18872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Buscó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hay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incertidumbre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total y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razón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estructural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fondo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8448" y="1517904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Intentó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buscar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puede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empezar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desalentada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y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indisponibilidad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estructural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Ambigüedad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todo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+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estructura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=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7876" y="1261872"/>
            <a:ext cx="2977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sin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temporal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clara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y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cuyas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respuestas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apuntan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ningún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retorno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al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093976"/>
            <a:ext cx="8449056" cy="768096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2336" y="2203704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2203704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139696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A2342"/>
                </a:solidFill>
                <a:latin typeface="Calibri"/>
              </a:rPr>
              <a:t>No buscó, no sabe si desea trabajar y se declara no disponible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302608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Sin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señal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participación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buscó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y al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preguntarle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directamente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declara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Completamente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desconectada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4310" y="2148840"/>
            <a:ext cx="2910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que 'no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sabe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nada'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sobre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mercado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laboral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buscó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,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quiere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, y dice que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está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disponible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980944"/>
            <a:ext cx="8449056" cy="7680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3090672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" y="3090672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971799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Desea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trabajar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la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razón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indisponibilidad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es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permanente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e irreversible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326735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64748B"/>
                </a:solidFill>
                <a:latin typeface="Calibri"/>
              </a:rPr>
              <a:t>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existe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lo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impide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definitiva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jubilación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incapacidad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u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otra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razón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no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cambiará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con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tiempo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7876" y="3035808"/>
            <a:ext cx="2977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Jubilado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'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quisiera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algo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',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reconoce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su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salud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ingresos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lo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hacen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imposible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práctica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867912"/>
            <a:ext cx="8449056" cy="768096"/>
          </a:xfrm>
          <a:prstGeom prst="rect">
            <a:avLst/>
          </a:prstGeom>
          <a:solidFill>
            <a:srgbClr val="E8F4FD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2336" y="3977640"/>
            <a:ext cx="804672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" y="3977640"/>
            <a:ext cx="804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urier New"/>
              </a:rPr>
              <a:t>nodisp_9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3913632"/>
            <a:ext cx="44111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 dirty="0" err="1">
                <a:solidFill>
                  <a:srgbClr val="0A2342"/>
                </a:solidFill>
                <a:latin typeface="Calibri"/>
              </a:rPr>
              <a:t>Mismo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resultado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que el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criterio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8,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llegando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por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otro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camino</a:t>
            </a:r>
            <a:r>
              <a:rPr sz="1050" b="1" i="0" dirty="0">
                <a:solidFill>
                  <a:srgbClr val="0A2342"/>
                </a:solidFill>
                <a:latin typeface="Calibri"/>
              </a:rPr>
              <a:t> del </a:t>
            </a:r>
            <a:r>
              <a:rPr sz="1050" b="1" i="0" dirty="0" err="1">
                <a:solidFill>
                  <a:srgbClr val="0A2342"/>
                </a:solidFill>
                <a:latin typeface="Calibri"/>
              </a:rPr>
              <a:t>cuestionario</a:t>
            </a:r>
            <a:endParaRPr sz="1050" b="1" i="0" dirty="0">
              <a:solidFill>
                <a:srgbClr val="0A2342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61872" y="4133085"/>
            <a:ext cx="4242816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 err="1">
                <a:solidFill>
                  <a:srgbClr val="64748B"/>
                </a:solidFill>
                <a:latin typeface="Calibri"/>
              </a:rPr>
              <a:t>Idéntico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concepto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: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desea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barrera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 Solo cambia la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ruta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siguió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cuestionario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según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las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respuestas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previas de la persona.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destino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es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 el </a:t>
            </a:r>
            <a:r>
              <a:rPr sz="950" b="0" i="0" dirty="0" err="1">
                <a:solidFill>
                  <a:srgbClr val="64748B"/>
                </a:solidFill>
                <a:latin typeface="Calibri"/>
              </a:rPr>
              <a:t>mismo</a:t>
            </a:r>
            <a:r>
              <a:rPr sz="9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7876" y="3922776"/>
            <a:ext cx="2977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 dirty="0" err="1">
                <a:solidFill>
                  <a:srgbClr val="64748B"/>
                </a:solidFill>
                <a:latin typeface="Calibri"/>
              </a:rPr>
              <a:t>Ej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: Persona con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discapacidad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permanente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desearía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trabajar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pero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reconoce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que no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puede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de </a:t>
            </a:r>
            <a:r>
              <a:rPr sz="900" b="0" i="1" dirty="0" err="1">
                <a:solidFill>
                  <a:srgbClr val="64748B"/>
                </a:solidFill>
                <a:latin typeface="Calibri"/>
              </a:rPr>
              <a:t>ninguna</a:t>
            </a:r>
            <a:r>
              <a:rPr sz="900" b="0" i="1" dirty="0">
                <a:solidFill>
                  <a:srgbClr val="64748B"/>
                </a:solidFill>
                <a:latin typeface="Calibri"/>
              </a:rPr>
              <a:t> forma.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Razón permanente: jubilado o pensionado · incapacidad permanente · muy joven o muy viejo · familia no le permite · otra razón permanente.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1371600"/>
          </a:xfrm>
          <a:prstGeom prst="rect">
            <a:avLst/>
          </a:prstGeom>
          <a:solidFill>
            <a:srgbClr val="1B6CA8">
              <a:alpha val="1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9962A"/>
          </a:solidFill>
          <a:ln w="12700">
            <a:solidFill>
              <a:srgbClr val="E99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Replicar los datos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cero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3035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cuestionario bruto a los indicadores estratégicos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Nacional de Ocupación y Empleo · INEGI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1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47472" y="3474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</a:rPr>
              <a:t>Actividad Final — Archivos necesarios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>
                <a:solidFill>
                  <a:srgbClr val="CBD5E1"/>
                </a:solidFill>
              </a:rPr>
              <a:t>Replicar los indicadores desde las respuestas brutas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2084832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041C2C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2084832"/>
            <a:ext cx="4160520" cy="347472"/>
          </a:xfrm>
          <a:prstGeom prst="roundRect">
            <a:avLst>
              <a:gd name="adj" fmla="val 1842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08483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necesarios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487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87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SDEMT126.csv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715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Sociodemográfico — contiene r_def, c_res, eda, fac_tri y los campos precodificados (clase1, clase2...)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3054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540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COE1T126.csv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2826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COE1 — contiene las respuestas brutas P1, P1a1, P1b, P1c, P1d, P1e, P2_1, P2_2, P2b, P2c, P2e, P2f, P2g1, P2g2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6210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210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reconstruccion_variables_enoe.pdf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849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INEGI con los criterios exactos de cada categoría. El árbol de decisión completo por escrito.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" y="4187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>
              <a:alpha val="20000"/>
            </a:srgbClr>
          </a:solidFill>
          <a:ln w="508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indicadores_enoe_final.R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4165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de solución que ya generamos — contiene todo el pipeline completo desde la carga hasta la validación.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4681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9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Descarga microdatos: www.inegi.org.mx/programas/enoe/15ymas/#Microdatos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347472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A9D8F"/>
                </a:solidFill>
                <a:latin typeface="Calibri"/>
              </a:rPr>
              <a:t>Actividad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mbria"/>
              </a:rPr>
              <a:t>Proceso a seguir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BD5E1"/>
                </a:solidFill>
                <a:latin typeface="Calibri"/>
              </a:rPr>
              <a:t>De los archivos CSV al indicador validado — pipeline completo en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93852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9385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Descargar archivos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Ir a inegi.org.mx/programas/enoe/15ymas/#Microdatos · Seleccionar el trimestre · Descargar SDEMT126.csv y COE1T126.csv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3852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9385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3852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Cargar en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3969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read.csv('SDEMT126.csv', fileEncoding='latin1') y lo mismo para COE1T126.csv · Renombrar columnas a minúsculas · Limpiar espacios: trimws() + as.numeric()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" y="267004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26700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67004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Unir tablas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87121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left_join(sdem, coe1, by=LLAVE) usando las 9 llaves · La llave incluye: cd_a, cve_ent, con, v_sel, n_hog, h_mud, n_ren, tipo, mes_cal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67004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26700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7004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Filtrar el universo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87121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filter(r_def==0, c_res %in% c(1,3), eda&gt;=15, eda&lt;=98) · Esto es el criterio general INEGI · ~75,000 registros quedan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40156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4015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40156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Clasificar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60273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Aplicar las 4 instancias de ocupados · Los 3 tipos de desocupados · Los 7 criterios de disponibles · Los 9 de no disponibles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40156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34015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40156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Expandir y calcular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60273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sum(fac_tri[condición]) para cada grupo · TD = desocupados/pea·100 · TP = pea/pob15·100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413308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41330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13308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Generar gráficas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33425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Repetir pasos 1-6 para todos los trimestres 2024-2026 · Construir data.frame con la serie · ggplot2 para graficar cada indicador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4133088"/>
            <a:ext cx="384048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41330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133088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962A"/>
                </a:solidFill>
                <a:latin typeface="Calibri"/>
              </a:rPr>
              <a:t>Validar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334256"/>
            <a:ext cx="38587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A8D8F0"/>
                </a:solidFill>
                <a:latin typeface="Calibri"/>
              </a:rPr>
              <a:t>Comparar resultados con los campos precodificados de SDEM · Diferencia debe ser 0.000% si el árbol está bien aplicado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7199</Words>
  <Application>Microsoft Macintosh PowerPoint</Application>
  <PresentationFormat>Presentación en pantalla (16:9)</PresentationFormat>
  <Paragraphs>759</Paragraphs>
  <Slides>41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2026-07-03T17:19:30Z</dcterms:created>
  <dcterms:modified xsi:type="dcterms:W3CDTF">2026-07-04T18:04:32Z</dcterms:modified>
</cp:coreProperties>
</file>