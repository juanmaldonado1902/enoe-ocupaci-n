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1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7" r:id="rId33"/>
    <p:sldId id="288" r:id="rId34"/>
    <p:sldId id="295" r:id="rId35"/>
    <p:sldId id="293" r:id="rId36"/>
    <p:sldId id="296" r:id="rId37"/>
    <p:sldId id="289" r:id="rId38"/>
    <p:sldId id="290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39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46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1200" dirty="0">
                <a:solidFill>
                  <a:srgbClr val="E99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Nacional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Ocupación y Empleo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mercado laboral a los microdatos: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mide, cómo se diseña y cómo se replica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 ·  México  ·  Documento base: Cómo se hace la ENOE, 2023 · Conociendo la base de datos, 2023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medimos y por qué importa?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al mercado laboral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es el mecanismo principal mediante el cual los hogares acceden a ingresos y bienestar. Medirlo con rigor es condición necesaria para la política económica y social.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política pública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47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desempleo, capacitación laboral, salarios mínimos — todo depende de saber cuántos trabajan y en qué condiciones.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81728" y="1463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84648" y="15179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económico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1847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y cuentas nacionales usan horas trabajadas como insumo. Sin medición del empleo no hay contabilidad nacional.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026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Comparabilidad internacional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35584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OIT/OCDE permiten comparar México con el mundo y evaluar avances en bienestar laboral.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2971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81728" y="2971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81728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4648" y="3026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y pobreza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335584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informal y el desempleo son dos de los correlatos más fuertes de la pobreza en México.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indicadores estratégicos del mercado laboral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responde una pregunta distinta sobre el mercado. Ninguno por sí solo cuenta la historia completa.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0624" y="12070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39312" y="1207008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093976" y="1488495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~2.5–3.0% en México. Baja vs. OCDE porque el sector informal absorbe a quienes no encuentran empleo formal.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1293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28032" y="12070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Participación (TP)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1207008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77418" y="1545336"/>
            <a:ext cx="231055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presión real sobre el </a:t>
            </a:r>
            <a:r>
              <a:rPr lang="en-US" sz="9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mercado.Menor</a:t>
            </a: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participación puede ocultar </a:t>
            </a:r>
            <a:r>
              <a:rPr lang="en-US" sz="9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desánimo</a:t>
            </a: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s-MX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900" dirty="0">
                <a:solidFill>
                  <a:schemeClr val="tx2"/>
                </a:solidFill>
              </a:rPr>
              <a:t>Ayuda a medir el potencial del mercado laboral.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7472" y="2562915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1" name="Shape 19"/>
          <p:cNvSpPr/>
          <p:nvPr/>
        </p:nvSpPr>
        <p:spPr>
          <a:xfrm>
            <a:off x="347472" y="24688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0624" y="24688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Subocupación (TS)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39312" y="2468880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~7-8%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283464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039692" y="2830068"/>
            <a:ext cx="241425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 err="1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Mide</a:t>
            </a:r>
            <a:r>
              <a:rPr lang="en-US" sz="900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 e</a:t>
            </a:r>
            <a:r>
              <a:rPr lang="es-MX" sz="900" dirty="0">
                <a:solidFill>
                  <a:schemeClr val="tx2"/>
                </a:solidFill>
              </a:rPr>
              <a:t>l porcentaje de trabajadores cuyas jornadas o ingresos son insuficientes, lo que los obliga a buscar un empleo adicional o ampliar su horario en el actual.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481978"/>
            <a:ext cx="4206240" cy="1232463"/>
          </a:xfrm>
          <a:prstGeom prst="roundRect">
            <a:avLst>
              <a:gd name="adj" fmla="val 6250"/>
            </a:avLst>
          </a:prstGeom>
          <a:solidFill>
            <a:srgbClr val="F3F0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28032" y="24688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Laboral (TIL2)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2468880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83464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47458" y="2803848"/>
            <a:ext cx="2113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oficial de INEGI. Incluye informales en empresas formales e informales.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20187" y="3856258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2520187" y="38404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2530898" y="3824169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Ocupación (TO)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45200" y="3831187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57547" y="4180785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900" dirty="0">
                <a:solidFill>
                  <a:schemeClr val="tx2"/>
                </a:solidFill>
              </a:rPr>
              <a:t>Porcentaje de personas en edad de trabajar (usualmente de 15 años en adelante) que tienen un empleo remunerado.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8046720" y="3730752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~15-16%</a:t>
            </a:r>
            <a:endParaRPr lang="en-US" sz="1100" dirty="0"/>
          </a:p>
        </p:txBody>
      </p:sp>
      <p:pic>
        <p:nvPicPr>
          <p:cNvPr id="49" name="Picture 48" descr="eq_sl5_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392" y="4227445"/>
            <a:ext cx="1652155" cy="491181"/>
          </a:xfrm>
          <a:prstGeom prst="rect">
            <a:avLst/>
          </a:prstGeom>
        </p:spPr>
      </p:pic>
      <p:pic>
        <p:nvPicPr>
          <p:cNvPr id="50" name="Picture 49" descr="eq_sl5_ti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466" y="2803848"/>
            <a:ext cx="1945992" cy="502920"/>
          </a:xfrm>
          <a:prstGeom prst="rect">
            <a:avLst/>
          </a:prstGeom>
        </p:spPr>
      </p:pic>
      <p:pic>
        <p:nvPicPr>
          <p:cNvPr id="51" name="Picture 50" descr="eq_sl5_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" y="2816140"/>
            <a:ext cx="1664208" cy="502920"/>
          </a:xfrm>
          <a:prstGeom prst="rect">
            <a:avLst/>
          </a:prstGeom>
        </p:spPr>
      </p:pic>
      <p:pic>
        <p:nvPicPr>
          <p:cNvPr id="52" name="Picture 51" descr="eq_sl5_t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832" y="1559052"/>
            <a:ext cx="1780586" cy="466344"/>
          </a:xfrm>
          <a:prstGeom prst="rect">
            <a:avLst/>
          </a:prstGeom>
        </p:spPr>
      </p:pic>
      <p:pic>
        <p:nvPicPr>
          <p:cNvPr id="53" name="Picture 52" descr="eq_sl5_t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" y="1559052"/>
            <a:ext cx="1664208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población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PEA, PNEA, ocupados, desocupados e informalidad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clasificación poblacional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91840" y="804672"/>
            <a:ext cx="2560320" cy="475488"/>
          </a:xfrm>
          <a:prstGeom prst="roundRect">
            <a:avLst>
              <a:gd name="adj" fmla="val 1346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91840" y="8046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15+ años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286000" y="1536192"/>
            <a:ext cx="4572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0" y="1536192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0" y="1536192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1764792"/>
            <a:ext cx="3108960" cy="475488"/>
          </a:xfrm>
          <a:prstGeom prst="roundRect">
            <a:avLst>
              <a:gd name="adj" fmla="val 13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7647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 — Económicamente Activa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764792"/>
            <a:ext cx="3108960" cy="475488"/>
          </a:xfrm>
          <a:prstGeom prst="roundRect">
            <a:avLst>
              <a:gd name="adj" fmla="val 13462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03520" y="17647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PNEA — No Económicamente Activa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22402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2496312"/>
            <a:ext cx="27432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1440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37160" y="2697480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37160" y="269748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2697480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743200" y="2697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" y="3136392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37160" y="336499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37160" y="3364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Sub-ocupada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2402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577840" y="2496312"/>
            <a:ext cx="2560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57784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3816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19472" y="2697480"/>
            <a:ext cx="1508760" cy="438912"/>
          </a:xfrm>
          <a:prstGeom prst="roundRect">
            <a:avLst>
              <a:gd name="adj" fmla="val 14583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26974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697480"/>
            <a:ext cx="1783080" cy="438912"/>
          </a:xfrm>
          <a:prstGeom prst="roundRect">
            <a:avLst>
              <a:gd name="adj" fmla="val 1458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223760" y="269748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 (millones de personas)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4425696"/>
            <a:ext cx="146304" cy="14630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Pob. 15+: 104.1M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4425696"/>
            <a:ext cx="146304" cy="1463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5204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PEA: 61.1M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4425696"/>
            <a:ext cx="146304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922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Ocupados: 59.6M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" y="4663440"/>
            <a:ext cx="146304" cy="1463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486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Desocupados: 1.6M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9272" y="4663440"/>
            <a:ext cx="146304" cy="14630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5204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PNEA: 43.0M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4663440"/>
            <a:ext cx="146304" cy="146304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922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Disponibles: 4.9M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Económicamente Activa (PEA)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95528"/>
            <a:ext cx="4160520" cy="4133088"/>
          </a:xfrm>
          <a:prstGeom prst="roundRect">
            <a:avLst>
              <a:gd name="adj" fmla="val 1770"/>
            </a:avLst>
          </a:prstGeom>
          <a:solidFill>
            <a:srgbClr val="E8F8F5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Ocupada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2801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realizan una actividad económica generando valor. La oferta de sus servicios laborales es demandada por una contraparte.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938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haber trabajado al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hora durante la semana de referencia, o haber mantenido vínculo laboral activo durante una ausencia temporal.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850996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Subordinados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remunerados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Empleadores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Trabajadores por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Trabajadores sin pago (familiares)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777240"/>
            <a:ext cx="4160520" cy="4133088"/>
          </a:xfrm>
          <a:prstGeom prst="roundRect">
            <a:avLst>
              <a:gd name="adj" fmla="val 1770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36008" y="77724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36008" y="77724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Desocupada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sin trabajo que han emprendido acciones concretas de búsqueda de empleo con disponibilidad inmediata.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clave: no basta con no tener trabajo. Es necesario haber buscado activamente en el último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poder empezar esta semana o la próxima.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756079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1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</a:t>
            </a:r>
            <a:r>
              <a:rPr lang="en-US" sz="11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desocupación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trabajo pero no busca (PNEA)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recibe transferencias sin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Desistió de buscar por desánimo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No Económicamente Activa (PNEA)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548640"/>
          </a:xfrm>
          <a:prstGeom prst="roundRect">
            <a:avLst>
              <a:gd name="adj" fmla="val 10000"/>
            </a:avLst>
          </a:prstGeom>
          <a:solidFill>
            <a:srgbClr val="6B46C1">
              <a:alpha val="14000"/>
            </a:srgbClr>
          </a:solidFill>
          <a:ln w="635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0352" y="777240"/>
            <a:ext cx="8083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no ocupadas cuya subsistencia se basa en transferencias y que no ejercen presión sobre el mercado laboral mediante búsqueda activa de empleo.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4160520" cy="420624"/>
          </a:xfrm>
          <a:prstGeom prst="roundRect">
            <a:avLst>
              <a:gd name="adj" fmla="val 15217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PNEA Disponible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92024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trabajan ni buscan porque piensan que no hay oportunidades. Actitud pasiva pero no indiferente: desearían trabajar si hubiera opciones.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85460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desanimados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Personas que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Quien no busca por razones familiares temporales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4352544"/>
            <a:ext cx="3822192" cy="201168"/>
          </a:xfrm>
          <a:prstGeom prst="roundRect">
            <a:avLst>
              <a:gd name="adj" fmla="val 18182"/>
            </a:avLst>
          </a:prstGeom>
          <a:solidFill>
            <a:srgbClr val="E9962A">
              <a:alpha val="15000"/>
            </a:srgbClr>
          </a:solidFill>
          <a:ln w="508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064" y="4339665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2026: ~4.9M · 11.4% de la PNEA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444752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5" name="Shape 13"/>
          <p:cNvSpPr/>
          <p:nvPr/>
        </p:nvSpPr>
        <p:spPr>
          <a:xfrm>
            <a:off x="4636008" y="1444752"/>
            <a:ext cx="416052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36008" y="14447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PNEA No disponible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trabajan, no buscan y no tienen disponibilidad para incorporarse al mercado laboral, ya sea por responsabilidades, impedimentos o falta de interés.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2986353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Estudiantes de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Quehaceres del hogar (sin intención de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Jubilados y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pensionados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satisfechos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Personas con discapacidad permanente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4339665"/>
            <a:ext cx="3822192" cy="201168"/>
          </a:xfrm>
          <a:prstGeom prst="roundRect">
            <a:avLst>
              <a:gd name="adj" fmla="val 18182"/>
            </a:avLst>
          </a:prstGeom>
          <a:solidFill>
            <a:srgbClr val="64748B">
              <a:alpha val="15000"/>
            </a:srgbClr>
          </a:solidFill>
          <a:ln w="508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00600" y="4347779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2026: ~38.1M · 88.6% de la PNEA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informalidad laboral: TIL1 vs. TIL2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informalidad no es un concepto único. La ENOE distingue dos dimensiones: el tipo de empresa (TIL1) y las condiciones del trabajador (TIL2).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TIL1 — Sector informal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911096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tipo de empresa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que operan con recursos del hogar sin contabilidad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No importa si tú tienes IMSS.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962656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Tianguis, talleres familiares, negocios sin RFC ni registros contables propios.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1436" y="1387699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6008" y="137160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36008" y="13716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TIL2 — Ocupación informal (oficial)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904013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¿Tú tienes seguridad social?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sin IMSS/ISSSTE por su trabajo, sin importar si trabajan en empresa formal o informal.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oficial del INEGI. Incluye TIL1 + informales en empresas formales.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527653"/>
            <a:ext cx="8449056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8912" y="356976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captura cada tasa?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0332" y="3878229"/>
            <a:ext cx="8417052" cy="205740"/>
          </a:xfrm>
          <a:prstGeom prst="rect">
            <a:avLst/>
          </a:prstGeom>
          <a:solidFill>
            <a:srgbClr val="0A2342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9768" y="3893412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trabajador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48072" y="3900109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39065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" y="4068017"/>
            <a:ext cx="8417052" cy="205740"/>
          </a:xfrm>
          <a:prstGeom prst="rect">
            <a:avLst/>
          </a:prstGeom>
          <a:solidFill>
            <a:srgbClr val="F1F5F9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47472" y="4092472"/>
            <a:ext cx="30288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informal (negocio sin contabilidad)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75504" y="41010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4085951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0332" y="4265145"/>
            <a:ext cx="8412480" cy="20574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47472" y="4280326"/>
            <a:ext cx="28687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formal, empleado sin IMSS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504" y="4285991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4285991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0332" y="4463335"/>
            <a:ext cx="8417052" cy="205740"/>
          </a:xfrm>
          <a:prstGeom prst="rect">
            <a:avLst/>
          </a:prstGeom>
          <a:solidFill>
            <a:srgbClr val="F1F5F9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47472" y="4484037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doméstico sin prestaciones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75504" y="449199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31152" y="449661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" y="4659704"/>
            <a:ext cx="8412480" cy="20574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47472" y="4677156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sin contrato ni seguridad social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5504" y="4697827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31152" y="470687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especiales y conceptos clave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Iniciadores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trabajo acordado que empezará pronto . La ENOE los clasifica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empleo aún no se concretó.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845820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36976" y="786384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73552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 temporales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trabajaron esa semana pero tienen empleo activo. Son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hay nexo (huelga, permiso con goce) o si regresan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4 semanas.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80467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35040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la hora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hora de trabajo en la semana de referencia es suficiente para ser clasificado como ocupado. Razón: comparabilidad OIT y contabilidad de horas.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834640"/>
            <a:ext cx="4206240" cy="1993392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7472" y="2834640"/>
            <a:ext cx="4206240" cy="347472"/>
          </a:xfrm>
          <a:prstGeom prst="roundRect">
            <a:avLst>
              <a:gd name="adj" fmla="val 1842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7472" y="28346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vs. Ocupación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236976"/>
            <a:ext cx="3950208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= relación subordinada (jefe-empleado). Ocupación = más amplio: incluye autónomos, cuentapropistas, familiares sin pago. La ENOE mide ocupación porque el autoempleo es masivo en México (~22%).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2834640"/>
            <a:ext cx="4059936" cy="1993392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36592" y="2834640"/>
            <a:ext cx="4059936" cy="347472"/>
          </a:xfrm>
          <a:prstGeom prst="roundRect">
            <a:avLst>
              <a:gd name="adj" fmla="val 18421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36592" y="283464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formal vs. informal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236976"/>
            <a:ext cx="3803904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 empresa formal vs. informal (TIL1) que trabajador formal vs. informal (TIL2). Un mesero en una empresa con RFC pero sin IMSS es formal para TIL1 e informal para TIL2. La brecha TIL2-TIL1 (~27 pp) mide la informalidad 'escondida' dentro del sector formal.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33272"/>
          </a:xfrm>
          <a:prstGeom prst="rect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dónde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sacamos esos datos?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los recolecta? ¿Cuántas veces al año? ¿A quién le preguntan?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El INEGI, con la Encuesta Nacional de Ocupación y Empleo (ENOE)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ENOE?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Historia, características y alcance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ENOE en México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y 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— primera encuesta de empleo
</a:t>
            </a: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ENEU — encuesta urbana por ciudades
</a:t>
            </a: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— cobertura nacional incluyendo rural
</a:t>
            </a:r>
            <a:r>
              <a:rPr lang="en-US" sz="115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— unifica ENE + ENEU con nuevo marco conceptual OIT/OCDE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31272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34381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 · OCDE · Grupo de París · Grupo Delhi · ONU · ISWGNA · ACLAN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77724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00600" y="84124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 la ENOE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822192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Encuesta continua en hogares, aplicada cada trimestre</a:t>
            </a:r>
          </a:p>
          <a:p>
            <a:pPr>
              <a:buNone/>
            </a:pPr>
            <a:endParaRPr lang="es-MX" sz="1100" dirty="0">
              <a:solidFill>
                <a:srgbClr val="64748B"/>
              </a:solidFill>
            </a:endParaRPr>
          </a:p>
          <a:p>
            <a:pPr>
              <a:buNone/>
            </a:pPr>
            <a:r>
              <a:rPr lang="es-MX" sz="1100" b="1" dirty="0">
                <a:solidFill>
                  <a:srgbClr val="64748B"/>
                </a:solidFill>
              </a:rPr>
              <a:t>Cobertura: </a:t>
            </a:r>
            <a:r>
              <a:rPr lang="es-MX" sz="1100" dirty="0">
                <a:solidFill>
                  <a:srgbClr val="64748B"/>
                </a:solidFill>
              </a:rPr>
              <a:t>nacional, 32 entidades, 39 ciudades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 autorrepresentadas, complemento urbano y rural</a:t>
            </a:r>
          </a:p>
          <a:p>
            <a:pPr>
              <a:buNone/>
            </a:pPr>
            <a:endParaRPr lang="es-MX" sz="1100" dirty="0">
              <a:solidFill>
                <a:srgbClr val="64748B"/>
              </a:solidFill>
            </a:endParaRPr>
          </a:p>
          <a:p>
            <a:pPr>
              <a:buNone/>
            </a:pPr>
            <a:r>
              <a:rPr lang="es-MX" sz="1100" b="1" dirty="0">
                <a:solidFill>
                  <a:srgbClr val="64748B"/>
                </a:solidFill>
              </a:rPr>
              <a:t>Universo</a:t>
            </a:r>
            <a:r>
              <a:rPr lang="es-MX" sz="1100" dirty="0">
                <a:solidFill>
                  <a:srgbClr val="64748B"/>
                </a:solidFill>
              </a:rPr>
              <a:t>: población de 12 años y más (publicación oficial: 15+)</a:t>
            </a:r>
          </a:p>
          <a:p>
            <a:pPr>
              <a:buNone/>
            </a:pPr>
            <a:endParaRPr lang="es-MX" sz="1100" dirty="0">
              <a:solidFill>
                <a:srgbClr val="64748B"/>
              </a:solidFill>
            </a:endParaRPr>
          </a:p>
          <a:p>
            <a:pPr>
              <a:buNone/>
            </a:pPr>
            <a:r>
              <a:rPr lang="es-MX" sz="1100" b="1" dirty="0">
                <a:solidFill>
                  <a:srgbClr val="64748B"/>
                </a:solidFill>
              </a:rPr>
              <a:t>Muestra</a:t>
            </a:r>
            <a:r>
              <a:rPr lang="es-MX" sz="1100" dirty="0">
                <a:solidFill>
                  <a:srgbClr val="64748B"/>
                </a:solidFill>
              </a:rPr>
              <a:t>: 150,449 viviendas por trimestre</a:t>
            </a:r>
          </a:p>
          <a:p>
            <a:pPr>
              <a:buNone/>
            </a:pPr>
            <a:endParaRPr lang="es-MX" sz="1100" dirty="0">
              <a:solidFill>
                <a:srgbClr val="64748B"/>
              </a:solidFill>
            </a:endParaRPr>
          </a:p>
          <a:p>
            <a:pPr>
              <a:buNone/>
            </a:pPr>
            <a:r>
              <a:rPr lang="es-MX" sz="1100" b="1" dirty="0">
                <a:solidFill>
                  <a:srgbClr val="64748B"/>
                </a:solidFill>
              </a:rPr>
              <a:t>Frecuencia</a:t>
            </a:r>
            <a:r>
              <a:rPr lang="es-MX" sz="1100" dirty="0">
                <a:solidFill>
                  <a:srgbClr val="64748B"/>
                </a:solidFill>
              </a:rPr>
              <a:t>: indicadores mensuales y trimestrales</a:t>
            </a:r>
          </a:p>
          <a:p>
            <a:pPr>
              <a:buNone/>
            </a:pPr>
            <a:endParaRPr lang="es-MX" sz="1100" dirty="0">
              <a:solidFill>
                <a:srgbClr val="64748B"/>
              </a:solidFill>
            </a:endParaRPr>
          </a:p>
          <a:p>
            <a:pPr>
              <a:buNone/>
            </a:pPr>
            <a:r>
              <a:rPr lang="es-MX" sz="1100" b="1" dirty="0">
                <a:solidFill>
                  <a:srgbClr val="64748B"/>
                </a:solidFill>
              </a:rPr>
              <a:t>Dos cuestionarios</a:t>
            </a:r>
            <a:r>
              <a:rPr lang="es-MX" sz="1100" dirty="0">
                <a:solidFill>
                  <a:srgbClr val="64748B"/>
                </a:solidFill>
              </a:rPr>
              <a:t>: CS (Sociodemográfico) + COE (Ocupación y Empleo)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Las dos tablas clave: SDEM y COE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804672"/>
            <a:ext cx="8449056" cy="475488"/>
          </a:xfrm>
          <a:prstGeom prst="round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804672"/>
            <a:ext cx="8083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FFFFFF"/>
                </a:solidFill>
                <a:latin typeface="Calibri"/>
              </a:rPr>
              <a:t>Los microdatos de la ENOE llegan en dos archivos con roles distintos. Antes de clasificar a nadie necesitas entender qué contiene cada uno y por qué ambos son necesarios.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408176"/>
            <a:ext cx="4160520" cy="3196021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" y="1408176"/>
            <a:ext cx="4160520" cy="420624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40817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SDEMT126 — Sociodemográfico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883664"/>
            <a:ext cx="382219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tabla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MAESTRA. Una fila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residente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del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hogar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incluyendo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menores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Aquí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viven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:</a:t>
            </a:r>
            <a:endParaRPr lang="es-ES" sz="1100" b="0" i="0" dirty="0">
              <a:solidFill>
                <a:srgbClr val="64748B"/>
              </a:solidFill>
              <a:latin typeface="Calibri"/>
            </a:endParaRPr>
          </a:p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
• El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ponderador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FAC_TRI — sin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él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puedes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expandir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resultados</a:t>
            </a:r>
            <a:r>
              <a:rPr lang="es-ES" sz="1100" b="0" i="0" dirty="0">
                <a:solidFill>
                  <a:srgbClr val="64748B"/>
                </a:solidFill>
                <a:latin typeface="Calibri"/>
              </a:rPr>
              <a:t> ( Factor de expansión).</a:t>
            </a:r>
          </a:p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
• Los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campos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precodificados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: CLASE1, CLASE2, EMP_PPAL, SUB_O — son el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árbol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decisión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resuelto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el INEGI</a:t>
            </a:r>
            <a:r>
              <a:rPr lang="es-ES" sz="1100" b="0" i="0" dirty="0">
                <a:solidFill>
                  <a:srgbClr val="64748B"/>
                </a:solidFill>
                <a:latin typeface="Calibri"/>
              </a:rPr>
              <a:t> ( Clasificación de la población).</a:t>
            </a:r>
          </a:p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
• Variables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sociodemográficas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sexo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edad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escolaridad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estado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conyugal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36008" y="1408176"/>
            <a:ext cx="4160520" cy="3196021"/>
          </a:xfrm>
          <a:prstGeom prst="roundRect">
            <a:avLst/>
          </a:prstGeom>
          <a:solidFill>
            <a:srgbClr val="FFF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36008" y="1408176"/>
            <a:ext cx="4160520" cy="42062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40817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COE1T126 — Cuestionario de Ocupación y Empleo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83664"/>
            <a:ext cx="3822191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tabla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'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rudimentaria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'. Una fila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persona de 12+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años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Contiene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las </a:t>
            </a:r>
            <a:r>
              <a:rPr lang="es-ES" sz="1100" b="0" i="0" dirty="0">
                <a:solidFill>
                  <a:srgbClr val="64748B"/>
                </a:solidFill>
                <a:latin typeface="Calibri"/>
              </a:rPr>
              <a:t>respuestas directas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tal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captó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entrevistador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Aquí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viven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:</a:t>
            </a:r>
            <a:endParaRPr lang="es-ES" sz="1100" b="0" i="0" dirty="0">
              <a:solidFill>
                <a:srgbClr val="64748B"/>
              </a:solidFill>
              <a:latin typeface="Calibri"/>
            </a:endParaRPr>
          </a:p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
• P1, P1a1, P1a2, P1b, P1c, P1d, P1e —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preguntas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ocupación</a:t>
            </a:r>
            <a:endParaRPr lang="es-ES" sz="1100" b="0" i="0" dirty="0">
              <a:solidFill>
                <a:srgbClr val="64748B"/>
              </a:solidFill>
              <a:latin typeface="Calibri"/>
            </a:endParaRPr>
          </a:p>
          <a:p>
            <a:r>
              <a:rPr sz="1100" b="0" i="0" dirty="0">
                <a:solidFill>
                  <a:srgbClr val="64748B"/>
                </a:solidFill>
                <a:latin typeface="Calibri"/>
              </a:rPr>
              <a:t>
• P2_1, P2_2, P2_3, P2b, P2c, P2e, P2f, P2g1, P2g2 —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preguntas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desocupación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N</a:t>
            </a:r>
            <a:r>
              <a:rPr lang="es-ES" sz="1100" b="0" i="0" dirty="0" err="1">
                <a:solidFill>
                  <a:srgbClr val="64748B"/>
                </a:solidFill>
                <a:latin typeface="Calibri"/>
              </a:rPr>
              <a:t>ota</a:t>
            </a:r>
            <a:r>
              <a:rPr lang="es-ES" sz="1100" b="0" i="0" dirty="0">
                <a:solidFill>
                  <a:srgbClr val="64748B"/>
                </a:solidFill>
                <a:latin typeface="Calibri"/>
              </a:rPr>
              <a:t>: n</a:t>
            </a:r>
            <a:r>
              <a:rPr lang="es-ES" sz="1100" dirty="0">
                <a:solidFill>
                  <a:srgbClr val="64748B"/>
                </a:solidFill>
                <a:latin typeface="Calibri"/>
              </a:rPr>
              <a:t>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contiene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ponderador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 Para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calcular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indicadores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debes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hacer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el JOIN con SDEM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usando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las 9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llaves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4680836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 dirty="0" err="1">
                <a:solidFill>
                  <a:srgbClr val="64748B"/>
                </a:solidFill>
                <a:latin typeface="Calibri"/>
              </a:rPr>
              <a:t>Diferencia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clave: SDEM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el '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resultado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' (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precodificado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). COE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las '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respuestas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brutas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'. Para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replicar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hay que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ir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de COE →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reconstruir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árbol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→ </a:t>
            </a:r>
            <a:r>
              <a:rPr sz="950" b="0" i="1" dirty="0" err="1">
                <a:solidFill>
                  <a:srgbClr val="64748B"/>
                </a:solidFill>
                <a:latin typeface="Calibri"/>
              </a:rPr>
              <a:t>validar</a:t>
            </a:r>
            <a:r>
              <a:rPr sz="950" b="0" i="1" dirty="0">
                <a:solidFill>
                  <a:srgbClr val="64748B"/>
                </a:solidFill>
                <a:latin typeface="Calibri"/>
              </a:rPr>
              <a:t> contra SDEM.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datos de la ENOE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procesamiento sigue una cadena secuencial antes de que los microdatos lleguen al usuario: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184921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8683" y="1184921"/>
            <a:ext cx="275710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y validación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8683" y="1431809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concentran archivos de captura de campo. Validación por entidad detecta inconsistencias, rangos imposibles y cuestionarios incompletos.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1755648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7472" y="1901952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7472" y="190195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Shape 12"/>
          <p:cNvSpPr/>
          <p:nvPr/>
        </p:nvSpPr>
        <p:spPr>
          <a:xfrm>
            <a:off x="1234440" y="1901952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89888" y="1911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Ponderadores (FAC_TRI / FAC_MEN)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89888" y="2176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calculan y asignan los factores de expansión aplicando tres ajustes: factor base (inverso de probabilidad), no respuesta, y anclaje a proyección demográfica.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2468880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7472" y="2615184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7472" y="2615184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4440" y="2615184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389888" y="2621881"/>
            <a:ext cx="274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precodificadas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89888" y="2889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aplica 'Reconstrucción de variables' y construye CLASE1, CLASE2, CLASE3, EMP_PPAL, SUB_O, TUE_PPAL directamente en la tabla SOCIODEMOGRÁFICO.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3182112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47472" y="3328416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" y="3328416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3328416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389888" y="3364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estratégicos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89888" y="36027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tabulados mensuales y trimestrales mediante sumas ponderadas (FAC_TRI) según las variables precodificadas.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895344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47472" y="404164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47472" y="4041648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34440" y="4041648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389888" y="40782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microdatos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389888" y="43159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archivos públicos (CSV/DBF), metadatos DDI, datos abiertos, boletín mensual y boletín trimestral en inegi.org.mx.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encontrar los datos: SDEM y COE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https://www.inegi.org.mx/programas/enoe/15ymas/  →  Microdatos  →  seleccionar trimestre y año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3612524"/>
          </a:xfrm>
          <a:prstGeom prst="roundRect">
            <a:avLst>
              <a:gd name="adj" fmla="val 21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SDEMT126 — Sociodemográfico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4708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residente del </a:t>
            </a:r>
            <a:r>
              <a:rPr lang="en-US" sz="11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</a:t>
            </a: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2176272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22037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r_def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43584" y="2212848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resultado de la entrevista (00=lograda)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" y="2468880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24963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c_res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43584" y="2505456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condición de residencia (1 ó 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" y="2761488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43584" y="2798064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edad del residente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" y="3054096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30815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8640" y="30815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fac_tri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243584" y="3090672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factor de expansión trimestral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" y="3346704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337413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48640" y="33741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fac_men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43584" y="3383280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factor de expansión mensual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" y="3639312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48640" y="366674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8640" y="36667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243584" y="3675888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PEA(1) o PNEA(2) [PRECODIFICADO]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" y="3931920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48640" y="395935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48640" y="3959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243584" y="3968496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Ocup(1)/Desoc(2)/Disp(3)/NDisp(4) [PRECODIFICADO]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" y="4224528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48640" y="42519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emp_ppal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243584" y="4261104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informalidad laboral TIL2 [PRECODIFICADO]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2064" y="4517136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48640" y="454456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48640" y="45445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243584" y="4553712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subocupación [PRECODIFICADO]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36008" y="1371600"/>
            <a:ext cx="4160520" cy="3612524"/>
          </a:xfrm>
          <a:prstGeom prst="roundRect">
            <a:avLst>
              <a:gd name="adj" fmla="val 2133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636008" y="137160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636008" y="13716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COE1T126 — Cuestionario de Ocupación 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184708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persona de 12+ con entrevista lograda. 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00600" y="2176272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4837176" y="219456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837176" y="2194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532120" y="220370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¿Trabajó al menos 1 hora la semana pasada?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2446020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837176" y="246430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837176" y="24643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532120" y="24734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¿Realizó actividad con ingreso?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0600" y="2715768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4837176" y="273405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837176" y="273405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532120" y="27432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¿Ayudó en tierras o negocio familiar?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0600" y="2985516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837176" y="300380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837176" y="30038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p1b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532120" y="30129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¿Tiene empleo aunque no trabajó?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00600" y="3255264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4837176" y="327355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4837176" y="32735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p1c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532120" y="32826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¿Por qué no trabajó? (causa de ausencia)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00600" y="3525012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4837176" y="354330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4837176" y="354330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532120" y="355244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¿Su empleo continuará?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00600" y="3794760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4837176" y="381304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4837176" y="381304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532120" y="38221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¿Regresa en &lt;4 semanas?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800600" y="4064508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4837176" y="408279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4837176" y="40827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p2_1/2/3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532120" y="40919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¿Buscó trabajo? (modalidades)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800600" y="4334256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4837176" y="435254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4837176" y="43525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p2b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532120" y="43616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¿Cuándo podría empezar a trabajar?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800600" y="4604004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4837176" y="462229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4837176" y="46222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p2f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532120" y="46314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¿Desea trabajar?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indicadores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ENOE desde microdatos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5176" y="2212848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25196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calcular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265176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PEA, PNEA, Ocupados, Desocupados (cifras absolutas)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Desocupación (TD) — trimestral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Participación Económica (TP)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Informalidad Laboral (TIL2)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Gráfica de serie de tiempo para cada indicador: T1-T4 2024, T1-T4 2025 y T1 2026</a:t>
            </a:r>
          </a:p>
        </p:txBody>
      </p:sp>
      <p:sp>
        <p:nvSpPr>
          <p:cNvPr id="8" name="Shape 6"/>
          <p:cNvSpPr/>
          <p:nvPr/>
        </p:nvSpPr>
        <p:spPr>
          <a:xfrm>
            <a:off x="5833872" y="2212848"/>
            <a:ext cx="2944368" cy="2606040"/>
          </a:xfrm>
          <a:prstGeom prst="roundRect">
            <a:avLst>
              <a:gd name="adj" fmla="val 280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893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necesarios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26517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SDEMT126.csv (SDEM T1 2026)</a:t>
            </a:r>
          </a:p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Repetir para T2-T4 2024 y 2025</a:t>
            </a:r>
          </a:p>
        </p:txBody>
      </p:sp>
      <p:sp>
        <p:nvSpPr>
          <p:cNvPr id="11" name="Text 9"/>
          <p:cNvSpPr/>
          <p:nvPr/>
        </p:nvSpPr>
        <p:spPr>
          <a:xfrm>
            <a:off x="5989320" y="4315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Descarga: inegi.org.mx/programas/enoe/15ymas/#Microdatos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384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</a:rPr>
              <a:t>¿Cómo categoriza la ENOE
a cada persona?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2212848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¿La empleada del hogar es ocupada?
→ Sí si trabajó ≥1h y recibe pago. Si trabaja gratis para su familia, depende de la inst. 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36592" y="2212848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4632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¿El jubilado es desocupado?
→ No. Es PNEA no disponible (P2f=3, no desea trabajar). No está en la PEA.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871216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¿El vendedor de chicles en el semáforo?
→ Sí, ocupado (inst. 1 o 2). Trabaja aunque sea informal. TIL2=1.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2871216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0" y="2944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¿Estudiante que trabaja fines de semana?
→ Ocupada. PEA. Aunque estudie, si trabajó ≥1h entra por inst. 1.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5295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¿Campesino que cultiva solo para comer?
→ Ocupado por inst. 2 (ayudó en tierras o negocio familiar, P1a2=2).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35295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6027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¿Mamá que cuida hijos tiempo completo?
→ PNEA. Si quisiera trabajar pero no busca: disponible. Si no quiere: no disponible (P2f=3).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6634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con precisión, hace falta ir a fondo en los microdatos y en la metodología de construcción de la ENOE.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9962A"/>
                </a:solidFill>
                <a:latin typeface="Calibri"/>
              </a:rPr>
              <a:t>Sección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8595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¿Cómo se construye el diseño
estadístico de la ENOE?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317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BD5E1"/>
                </a:solidFill>
                <a:latin typeface="Calibri"/>
              </a:rPr>
              <a:t>Cinco decisiones en secuencia — de lo más general a lo más concreto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512064" cy="512064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0156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Dividir el territorio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49039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BD5E1"/>
                </a:solidFill>
                <a:latin typeface="Calibri"/>
              </a:rPr>
              <a:t>3 dominios mutuamente excluyentes según tamaño de localidad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39" y="3090672"/>
            <a:ext cx="731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93391" y="2834640"/>
            <a:ext cx="512064" cy="51206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3391" y="28346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1" y="340156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Estratificar UPMs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1" y="3749039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BD5E1"/>
                </a:solidFill>
                <a:latin typeface="Calibri"/>
              </a:rPr>
              <a:t>683 estratos: geográfico × sociodemográfico (34 indicadores del Censo)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9311" y="3090672"/>
            <a:ext cx="731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12463" y="2834640"/>
            <a:ext cx="512064" cy="51206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3" y="28346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3" y="340156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Sortear UPMs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749039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BD5E1"/>
                </a:solidFill>
                <a:latin typeface="Calibri"/>
              </a:rPr>
              <a:t>PPT: probabilidad proporcional al tamaño dentro de cada estrato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58383" y="3090672"/>
            <a:ext cx="73153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31536" y="2834640"/>
            <a:ext cx="512064" cy="512064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31536" y="28346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40156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Sortear viviendas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749039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BD5E1"/>
                </a:solidFill>
                <a:latin typeface="Calibri"/>
              </a:rPr>
              <a:t>Igual probabilidad dentro de cada UPM seleccionada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77455" y="3090672"/>
            <a:ext cx="731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50607" y="2834640"/>
            <a:ext cx="512064" cy="512064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0607" y="28346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7" y="340156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Expandir resultados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7" y="3749039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BD5E1"/>
                </a:solidFill>
                <a:latin typeface="Calibri"/>
              </a:rPr>
              <a:t>FAC_TRI = inverso de probabilidad de selección, ajustado ×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Encuesta Nacional de Ocupación y Empleo · INEGI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estadístico de la ENOE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muestral de la ENOE es probabilístico, bietápico, estratificado y por conglomerados. Esto garantiza que los resultados se generalicen a toda la población de México.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810512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vivienda en México tiene una probabilidad conocida y calculable de ser seleccionada. Permite estimar el error de muestreo y construir intervalos de confianza.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Bietápico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10512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etapa: se seleccionan UPM (agrupaciones de manzanas) con probabilidad proporcional a su tamaño. Segunda etapa: se seleccionan viviendas dentro de cada UPM.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962656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47472" y="2962656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47472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383280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UPM se agrupan en 683 estratos (geográfico × sociodemográfico). Garantiza representatividad en cada subdominio de interés.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962656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2962656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6344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conglomerados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383280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UPM es un conglomerado de viviendas. Más eficiente operativamente que seleccionar viviendas individuales dispersas en el territorio.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última de observación: persona de 15 años y más residente habitual o nuevo residente de la vivienda seleccionada.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Los tres dominios de estudio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México se divide en tres dominios mutuamente excluyentes según tamaño de localidad. Cada uno tiene su propia submuestra y resultados estadísticamente independientes.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2743200" cy="3611880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1234440"/>
            <a:ext cx="2743200" cy="566928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39 ciudades
autorrepresentadas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18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45.7%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47088"/>
            <a:ext cx="2523744" cy="237744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 viv./UPM · UPM de 80–160 viv.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48840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Zona metropolitana o centro urbano según SUN 2018 (CONAPO/SEDATU)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9631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Criterios: político, económico, crecimiento y desarrollo urbano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43784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Resultados estadísticos independientes por ciudad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191256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Muestra mínima: 1,965 viv. · CDMX: 6,149 viv. · GDL/MTY/PUE: &gt;3,000 viv.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538728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¿Por qué 5 viv./UPM? Alta heterogeneidad → cada vivienda aporta más información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234440"/>
            <a:ext cx="2743200" cy="3611880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1234440"/>
            <a:ext cx="2743200" cy="566928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Complemento urbano
de alta densidad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618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31.2%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847088"/>
            <a:ext cx="2523744" cy="23774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1568" y="184708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20 viv./UPM · UPM de 160–300 viv.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148840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Sub1: ciudades 100,000+ hab. no autorrepresentadas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249631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Sub2: localidades 15,000–99,999 hab.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2843784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Sub3: localidades 2,500–14,999 hab.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3191256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UPM: manzanas contiguas del mismo municipio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3538728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¿Por qué 20 viv./UPM? Mayor homogeneidad → se necesitan más para capturar variabilidad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1234440"/>
            <a:ext cx="2743200" cy="3611880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36208" y="1234440"/>
            <a:ext cx="2743200" cy="56692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Rural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1618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23.1%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5936" y="1847088"/>
            <a:ext cx="2523744" cy="23774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184708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 segmentos × ~5 viv. · UPM de 160–300 viv.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2148840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Localidades de menos de 2,500 habitantes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49631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UPM: AGEB completas o partes del mismo municipio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843784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Selección por segmentos: el entrevistador no puede saltar viviendas dispersas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3191256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Mayor error estándar: las viviendas son más homogéneas y la muestra más escasa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538728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• ¿Por qué segmentos? Imposible visitar viviendas dispersas individualmente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Marco de la encuesta y estratificación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804672"/>
            <a:ext cx="5074920" cy="2084831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804672"/>
            <a:ext cx="507492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8046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683 estratos: geográfico × sociodemográfico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43584"/>
            <a:ext cx="47548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Estrato geográfico: entidad + zona de tamaño de localidad (zonas 01 a 60). La división política y el tamaño de las localidades conforman una estratificación territorial natural.
Estrato sociodemográfico: 34 indicadores del Censo 2010 (escolaridad, hacinamiento, servicios, etc.) agrupados en 4 grupos mediante análisis de conglomerados multivariados.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50408" y="804672"/>
            <a:ext cx="3246120" cy="2084831"/>
          </a:xfrm>
          <a:prstGeom prst="rect">
            <a:avLst/>
          </a:prstGeom>
          <a:solidFill>
            <a:srgbClr val="FFF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50408" y="804672"/>
            <a:ext cx="3246120" cy="384048"/>
          </a:xfrm>
          <a:prstGeom prst="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0408" y="80467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UPM por dominio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704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64748B"/>
                </a:solidFill>
                <a:latin typeface="Calibri"/>
              </a:rPr>
              <a:t>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1704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Viv./UPM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1704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Selec.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0408" y="1417320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77840" y="1499616"/>
            <a:ext cx="1234440" cy="292608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14996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39 ciudades autorr.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5361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80–160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5361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342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1892808"/>
            <a:ext cx="32461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577840" y="1975104"/>
            <a:ext cx="1234440" cy="292608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19751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Complemento urbano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116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160–300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342"/>
                </a:solidFill>
                <a:latin typeface="Calibri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368296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77840" y="2450591"/>
            <a:ext cx="1234440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2450591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48716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160–300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48716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342"/>
                </a:solidFill>
                <a:latin typeface="Calibri"/>
              </a:rPr>
              <a:t>4 seg.×5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2999232"/>
            <a:ext cx="8449056" cy="17556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A2342"/>
                </a:solidFill>
                <a:latin typeface="Cambria"/>
              </a:rPr>
              <a:t>Diseño bietápico — cómo se seleccionan las viviendas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3456432"/>
            <a:ext cx="713232" cy="2743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345643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1ª etapa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376732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Selección de UPM con PPT. UPM más grandes tienen mayor probabilidad — esto garantiza que la probabilidad final de cada vivienda sea igual sin importar el tamaño de su UPM.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28416" y="3456432"/>
            <a:ext cx="713232" cy="274320"/>
          </a:xfrm>
          <a:prstGeom prst="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28416" y="345643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2ª etapa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376732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Selección de viviendas dentro de la UPM con igual probabilidad: 5 en ciudades autorrepresentadas o 20 en complemento urbano y rural. Se actualiza el listado en campo para corregir viviendas nuevas o demolidas.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4768" y="3456432"/>
            <a:ext cx="713232" cy="2743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44768" y="345643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76732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P(vivienda) = P(UPM) × P(viv|UPM). El inverso de esta probabilidad es el FAC_TRI base.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4828032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Muestra total: 150,449 viviendas · 132,383 cara a cara · 18,066 telefónicas (desde 2ª entrevista)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necesito encuestar?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muestra se calcula usando como variable principal la Tasa de Desocupación Abierta (TDA), la que requiere el tamaño mayor, cubriendo automáticamente a las demás.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8449056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(z² × p × q × DEFF) / (r² × p² × tnr × TNP × PHV)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" y="1956816"/>
            <a:ext cx="8083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tamaño de muestra — ENOE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578608"/>
            <a:ext cx="4160520" cy="2240280"/>
          </a:xfrm>
          <a:prstGeom prst="roundRect">
            <a:avLst>
              <a:gd name="adj" fmla="val 3265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7472" y="257860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25786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para la ENOE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962656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(confianza 90%)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8688" y="2971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23260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2324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TDA esperada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18688" y="32324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483864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(error relativo máx.)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34930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744468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37536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DEFF (efecto de diseño)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18688" y="37536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4005072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40142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tnr (no respuesta)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18688" y="40142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4265676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7200" y="42748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TNP (participación)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18688" y="42748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4526280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PHV (hab. 15+/vivienda)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18688" y="45354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36008" y="2578608"/>
            <a:ext cx="4160520" cy="2240280"/>
          </a:xfrm>
          <a:prstGeom prst="roundRect">
            <a:avLst>
              <a:gd name="adj" fmla="val 3265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36008" y="257860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36008" y="25786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 resultantes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296265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36592" y="29718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(calculado)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06640" y="2971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150,033 viv.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25983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736592" y="326898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(ajustado)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06640" y="32689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150,449 viv.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55701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736592" y="35661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por entidad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06640" y="35661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3,460 viv.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85419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736592" y="38633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por ciudad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06640" y="38633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1,965 viv.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415137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36592" y="41605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406640" y="41605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6,149 viv.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444855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736592" y="44577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GDL/MTY/PUE/TOR/LEÓ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06640" y="44577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&gt;3,000 viv.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expansión (ponderadores)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FAC_TRI es el 'peso estadístico' de cada persona. Indica a cuántas personas de características similares representa en la población.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25296"/>
            <a:ext cx="8449056" cy="475488"/>
          </a:xfrm>
          <a:prstGeom prst="roundRect">
            <a:avLst>
              <a:gd name="adj" fmla="val 1346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viviendas en el estrato (Censo 2010)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4884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2148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m*_i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2167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actualizadas en listado de campo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" y="2468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24871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en la UPM según Censo 2010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182880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81728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seleccionadas en el estrato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14884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81728" y="2148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167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seleccionadas por UPM (5, 20 o 4×5)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29443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ajustes aplicados al factor base: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47472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47472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No respuesta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FAC' = FAC_base × (v / v*). v = viviendas seleccionadas, v* = viviendas que respondieron en la UPM. Si 4 de 5 contestaron, las 4 cargan un 25% más para compensar la que no respondió.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291840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291840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Proyección demográfica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19856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FAC_TRI = FAC' × (Pob_INEGI / Pob_expandida). Ancla los totales a las proyecciones del INEGI al punto medio del levantamiento. Garantiza que sum(FAC_TRI) = población total.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236208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236208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FAC_TRI vs FAC_MEN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64224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FAC_TRI: usa los 5 paneles del trimestre → indicadores trimestrales oficiales.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FAC_MEN: usa paneles del mes activo → indicadores mensuales (IOOE). Mayor error estándar.</a:t>
            </a:r>
            <a:endParaRPr lang="en-US" sz="950" dirty="0"/>
          </a:p>
        </p:txBody>
      </p:sp>
      <p:pic>
        <p:nvPicPr>
          <p:cNvPr id="36" name="Picture 35" descr="eq_sl26_f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4" y="1191940"/>
            <a:ext cx="864609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 de la muestra: el panel de 5 visitas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1389888"/>
          </a:xfrm>
          <a:prstGeom prst="roundRect">
            <a:avLst>
              <a:gd name="adj" fmla="val 526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rotar?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medir el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trimestres con menor varianza, sin agotar a los encuestados. La ENOE mantiene un traslape del 80% entre trimestres consecutivos: cada vivienda participa en exactamente 5 visitas y luego es reemplazada. Un traslape del 80% minimiza la varianza del estimador de cambio.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28600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paneles de rotación — cada trimestre se renueva 1 panel (20% de la muestra):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7472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8912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38912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8912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8912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8912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57400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057400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148840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48840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148840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48840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148840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48840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148840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48840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148840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67328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67328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58768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858768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58768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858768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58768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858768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58768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3858768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58768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858768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77256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477256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68696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76F51">
              <a:alpha val="28000"/>
            </a:srgbClr>
          </a:solidFill>
          <a:ln w="381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568696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68696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76F51">
              <a:alpha val="28000"/>
            </a:srgbClr>
          </a:solidFill>
          <a:ln w="381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568696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68696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568696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68696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568696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68696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568696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87184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187184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78624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6B46C1">
              <a:alpha val="28000"/>
            </a:srgbClr>
          </a:solidFill>
          <a:ln w="381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278624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278624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278624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278624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278624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78624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7278624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278624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278624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47472" y="4846320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clave: 1 visita por trimestre · 5 visitas totales por vivienda · 20% de renovación trimestral · Las UPM son permanentes (solo se renuevan viviendas)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captación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preguntamos a la gente?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de captación: CS y COE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cuestionarios aplicados secuencialmente en cada visita, primero el CS y luego el COE: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— Cuestionario Sociodemográfico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1682496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todos los residentes del hogar (0+ años)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primera visita (se actualiza en subsiguientes)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captados por grupo de edad: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487168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condición de residencia, parentesco, sexo, edad, lugar de nacimiento
</a:t>
            </a: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alfabetismo, nivel de instrucción, carrera, egreso
</a:t>
            </a: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número de hijos, situación conyugal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4462272"/>
            <a:ext cx="3822192" cy="274320"/>
          </a:xfrm>
          <a:prstGeom prst="roundRect">
            <a:avLst>
              <a:gd name="adj" fmla="val 13333"/>
            </a:avLst>
          </a:prstGeom>
          <a:solidFill>
            <a:srgbClr val="1B6CA8">
              <a:alpha val="14000"/>
            </a:srgbClr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064" y="44622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cuestionario por HOGAR (no individual)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18872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36008" y="118872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36008" y="11887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 — Cuestionario de Ocupación y Empleo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1682496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cada persona de 12+ años (individual)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todas las visitas, después del 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versiones: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Ampliado (COE-A): 11 baterías · T1 de cada año · información completa.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(COE-B): subconjunto del ampliado · T2, T3 y T4 · excluye baterías 9 y 10 · garantiza indicadores de coyuntura comparables.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462272"/>
            <a:ext cx="3822192" cy="274320"/>
          </a:xfrm>
          <a:prstGeom prst="roundRect">
            <a:avLst>
              <a:gd name="adj" fmla="val 13333"/>
            </a:avLst>
          </a:prstGeom>
          <a:solidFill>
            <a:srgbClr val="E9962A">
              <a:alpha val="14000"/>
            </a:srgbClr>
          </a:solidFill>
          <a:ln w="635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00600" y="44622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cuestionario por PERSONA de 12+ años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temática del COE — 11 baterías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77824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93192" y="80467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98448" y="804672"/>
            <a:ext cx="1261872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44168" y="804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804672"/>
            <a:ext cx="374904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679192" y="804672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46520" y="804672"/>
            <a:ext cx="25603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92240" y="804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1155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84048" y="11795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84048" y="11795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98448" y="11521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actividad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33472" y="11521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¿Trabajó al menos 1h? ¿Tiene trabajo? → Clasifica ocupados vs. no ocupados.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11521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14584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" y="15224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84048" y="15224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98448" y="14950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vs. PNEA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33472" y="14950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¿Buscó trabajo? ¿Está disponible? → Distingue desocupados, disponibles y no disponibles.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4950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ocupados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18013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84048" y="18653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84048" y="18653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98448" y="18379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y posición en ocupación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33472" y="18379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Oficio/tipo de trabajo, posición (subordinado vs. autónomo), condiciones laborales.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18379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1442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84048" y="22082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84048" y="22082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298448" y="21808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trabajo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33472" y="21808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económico. Permite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sector informal (unidad sin contabilidad separada → TIL1).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21808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24871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84048" y="25511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84048" y="2551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298448" y="25237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laboral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33472" y="2523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trabajadas, intensidad, permanencia. Permite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subocupación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(variable SUB_O).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6520" y="25237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8300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384048" y="28940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84048" y="28940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298448" y="28666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condiciones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33472" y="28666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Remuneración, acceso a instituciones de salud, lugar de trabajo →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TIL2.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28666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31729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384048" y="32369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384048" y="32369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298448" y="32095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secundario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33472" y="3209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secundaria y sus características principales.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46520" y="32095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" y="35158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84048" y="35798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384048" y="35798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8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298448" y="35524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otro trabajo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633472" y="35524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que buscan trabajo adicional o quieren cambiar (presión de movilidad laboral).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46520" y="35524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" y="38587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384048" y="39227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384048" y="39227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9*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98448" y="38953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laboral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633472" y="38953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pérdida de trabajo: contexto, tiempo, causa. Solo COE Ampliado (T1).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46520" y="38953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42016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84048" y="42656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384048" y="42656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10*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298448" y="42382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e ingresos no lab.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633472" y="42382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Remesas, programas gubernamentales, pensiones. Contexto de vulnerabilidad. Solo COE-A.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46520" y="42382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7472" y="45445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384048" y="46085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384048" y="46085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11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298448" y="45811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no económicas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633472" y="45811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quehaceres, cuidados, voluntariado. Contexto de inactividad (PNEA no disponible).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46520" y="45811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47472" y="4864608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Baterías 9 y 10 solo disponibles en el COE Ampliado (T1 de cada año). El COE Básico (T2–T4) las omite.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clasifica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cada persona?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cuestionario a las categorías: árbol de decisión metodológico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decide la ENOE si alguien es OCUPADO?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1 (P1 a P1e): se aplica en orden. Una persona es OCUPADA si cumple AL MENOS UNA de las cuatro instancias: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38912" y="1207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1 — Declaración directa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2435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31920" y="12435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591056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'¿La semana pasada trabajó por lo menos una hora?' → Sí. La forma más directa. Captura ~95% de los ocupados. Aplica a quien reconoce haber trabajado.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Empleada de mostrador, obrero en fábrica, taxista, doctor en consultorio.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07008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46320" y="1207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2 — Trabajo no reconocido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37714" y="1243584"/>
            <a:ext cx="1068542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68343" y="1243584"/>
            <a:ext cx="93791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P1a1=1 ó P1a2=2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64608" y="1591056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dijo 'no trabajé' pero realizó actividad con ingreso (P1a1=1) o ayudó en tierras/negocio familiar sin pago (P1a2=2). Captura trabajo que el informante no consideró 'trabajo'.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232257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Hijo que vendió tamales del negocio familiar. Señora que ayudó en el puesto del esposo.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054096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47472" y="3054096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8912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3 — Ausente con nexo laboral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10947" y="3090672"/>
            <a:ext cx="887901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10947" y="3090672"/>
            <a:ext cx="8879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P1c∈{1-4} ó P1d=1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3438144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trabajó esa semana pero tiene empleo activo. P1c=01-04 (huelga, paro técnico, suspensión con goce, capacitación) o P1d=1 (el empleo continuará cuando regrese).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Maestro de vacaciones de semana santa. Obrero en huelga. Trabajador de permiso con goce.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054096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0" y="3054096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46320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4 — Ausente sin nexo, regresa pronto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68343" y="3090672"/>
            <a:ext cx="937913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052318" y="3090672"/>
            <a:ext cx="8539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P1d∈{2,9} + P1e=1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4608" y="3438144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NO continuará (P1d=2) o no sabe (P1d=9), pero regresará en MENOS de 4 semanas (P1e=1). La brevedad de la ausencia la mantiene en la PEA ocupada.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64608" y="41696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Vendedor que dejó su puesto por enfermedad y ya va a volver. Trabajador despedido que consiguió otro rápido.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es_ocupado = inst1 | inst2 | inst3 | inst4   →   equivale a clase2 == 1 en la tabla SDEM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Población desocupada — los 3 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77240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64748B"/>
                </a:solidFill>
                <a:latin typeface="Calibri"/>
              </a:rPr>
              <a:t>Solo aplica a quienes NO son ocupados. Para ser desocupado hay que cumplir la condición propia de uno de los tres tipos. El tipo 1 no requiere haber buscado; los tipos 2 y 3 sí.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61872"/>
            <a:ext cx="8449056" cy="111556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1261872"/>
            <a:ext cx="804672" cy="111556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716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Tipo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737360"/>
            <a:ext cx="804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Iniciador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39" y="1335024"/>
            <a:ext cx="3372461" cy="37947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1344168"/>
            <a:ext cx="3127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alibri"/>
              </a:rPr>
              <a:t>Condición única: tiene un trabajo ACORDADO que empezará próximamente.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805940"/>
            <a:ext cx="48280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completó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búsqueda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—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encontró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ENOE lo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clasifica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desocupado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porque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evento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se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concretó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aún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semana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referencia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único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tipo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pasa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las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preguntas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búsqueda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(P2)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3533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Firmó contrato el viernes pero empieza el lunes.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92224"/>
            <a:ext cx="2560320" cy="420624"/>
          </a:xfrm>
          <a:prstGeom prst="roundRect">
            <a:avLst/>
          </a:prstGeom>
          <a:solidFill>
            <a:srgbClr val="E76F51"/>
          </a:solidFill>
          <a:ln w="63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179222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~15,000 personas T1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468880"/>
            <a:ext cx="8449056" cy="1115568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7472" y="2468880"/>
            <a:ext cx="804672" cy="1115568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57860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Tipo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2944368"/>
            <a:ext cx="804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Sin empleo con búsqueda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2542032"/>
            <a:ext cx="3428302" cy="34747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2551176"/>
            <a:ext cx="3127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alibri"/>
              </a:rPr>
              <a:t>Condición propia: declaró no tener empleo ni negocio (P1b=2).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2999232"/>
            <a:ext cx="462190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caso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OIT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clásico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desocupación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abierta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ADEMÁS las dos sub-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haber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activamente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poder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empezar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inmediato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Si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empezar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pronto → PNEA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560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Egresado sin trabajo que envía CVs y puede empezar esta semana.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999232"/>
            <a:ext cx="2560320" cy="420624"/>
          </a:xfrm>
          <a:prstGeom prst="roundRect">
            <a:avLst/>
          </a:prstGeom>
          <a:solidFill>
            <a:srgbClr val="E9962A"/>
          </a:solidFill>
          <a:ln w="6350">
            <a:solidFill>
              <a:srgbClr val="E99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29992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~1.4M personas T1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3675887"/>
            <a:ext cx="8449056" cy="1115568"/>
          </a:xfrm>
          <a:prstGeom prst="roundRect">
            <a:avLst/>
          </a:prstGeom>
          <a:solidFill>
            <a:srgbClr val="F3F0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7472" y="3675887"/>
            <a:ext cx="804672" cy="1115568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3785615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Tipo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151375"/>
            <a:ext cx="804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Ausente sin nexo con búsqueda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3749038"/>
            <a:ext cx="3372460" cy="347473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98448" y="3758183"/>
            <a:ext cx="3127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alibri"/>
              </a:rPr>
              <a:t>Condición propia: venía de ausencia y su empleo NO continuará (P1d=2 ó 9).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4179371"/>
            <a:ext cx="48280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Perdió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vínculo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durante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semana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referencia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TAMBIÉN las dos sub-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diferencia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con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tipo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2: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partió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'sin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empleo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',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sino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ausencia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temporal que se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convirtió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desempleo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al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romperse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nexo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7673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Obrero en suspensión temporal que fue notificado de liquidación y ya busca otro trabajo.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4206240"/>
            <a:ext cx="2560320" cy="420624"/>
          </a:xfrm>
          <a:prstGeom prst="roundRect">
            <a:avLst/>
          </a:prstGeom>
          <a:solidFill>
            <a:srgbClr val="6B46C1"/>
          </a:solidFill>
          <a:ln w="63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42062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~140,000 personas T1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Los tres tipos son mutuamente excluyentes — una persona solo puede caer en uno.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Sub-condiciones de desocupación y su relación con los 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77240"/>
            <a:ext cx="8449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64748B"/>
                </a:solidFill>
                <a:latin typeface="Calibri"/>
              </a:rPr>
              <a:t>Los tipos 2 y 3 no basta con cumplir su condición propia — además deben verificar dos sub-condiciones. El tipo 1 no las necesita porque ya encontró trabajo.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61872"/>
            <a:ext cx="4160520" cy="1920240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1261872"/>
            <a:ext cx="4160520" cy="384048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4160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dirty="0">
                <a:solidFill>
                  <a:srgbClr val="FFFFFF"/>
                </a:solidFill>
                <a:latin typeface="Courier New"/>
              </a:rPr>
              <a:t>B</a:t>
            </a:r>
            <a:r>
              <a:rPr sz="1300" b="1" i="0" dirty="0" err="1">
                <a:solidFill>
                  <a:srgbClr val="FFFFFF"/>
                </a:solidFill>
                <a:latin typeface="Courier New"/>
              </a:rPr>
              <a:t>úsqueda</a:t>
            </a:r>
            <a:r>
              <a:rPr lang="es-ES" sz="1300" b="1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ourier New"/>
              </a:rPr>
              <a:t>activa</a:t>
            </a:r>
            <a:endParaRPr sz="1300" b="1" i="0" dirty="0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64" y="1719072"/>
            <a:ext cx="382219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¿Hizo algo concreto para conseguir trabajo?
Basta con UNA de tres modalidades:
  · Buscó en otro país (P2_1 = 1)
  · Buscó en México (P2_2 = 2)
  · Intentó poner un negocio (P2_3 = 3)
Captura cualquier forma de acción de búsqueda.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1261872"/>
            <a:ext cx="4160520" cy="1920240"/>
          </a:xfrm>
          <a:prstGeom prst="roundRect">
            <a:avLst/>
          </a:prstGeom>
          <a:solidFill>
            <a:srgbClr val="FFF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36008" y="1261872"/>
            <a:ext cx="4160520" cy="384048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261872"/>
            <a:ext cx="4160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dirty="0">
                <a:solidFill>
                  <a:srgbClr val="FFFFFF"/>
                </a:solidFill>
                <a:latin typeface="Courier New"/>
              </a:rPr>
              <a:t>P</a:t>
            </a:r>
            <a:r>
              <a:rPr sz="1300" b="1" i="0" dirty="0" err="1">
                <a:solidFill>
                  <a:srgbClr val="FFFFFF"/>
                </a:solidFill>
                <a:latin typeface="Courier New"/>
              </a:rPr>
              <a:t>uede</a:t>
            </a:r>
            <a:r>
              <a:rPr lang="es-ES" sz="1300" b="1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ourier New"/>
              </a:rPr>
              <a:t>empezar</a:t>
            </a:r>
            <a:endParaRPr sz="1300" b="1" i="0" dirty="0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1719072"/>
            <a:ext cx="3822191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¿Está disponible para incorporarse ahora mismo?
Requiere DOS condiciones simultáneas:
  · P2b = 1 (podría empezar esta semana o la próxima)
  · P2c ≠ 2 ni 9 (sin impedimento físico actual)
Esta sub-condición separa al desocupado del disponible.
Si buscó pero no puede empezar pronto → PNEA disponible.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310128"/>
            <a:ext cx="8449056" cy="17190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3310128"/>
            <a:ext cx="8449056" cy="2743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319272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19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alibri"/>
              </a:rPr>
              <a:t>Condición propia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319272"/>
            <a:ext cx="1417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b="1" i="0" dirty="0">
                <a:solidFill>
                  <a:srgbClr val="FFFFFF"/>
                </a:solidFill>
                <a:latin typeface="Calibri"/>
              </a:rPr>
              <a:t>B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úsqueda</a:t>
            </a:r>
            <a:r>
              <a:rPr lang="es-E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activa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7688" y="3319272"/>
            <a:ext cx="1417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b="1" i="0" dirty="0">
                <a:solidFill>
                  <a:srgbClr val="FFFFFF"/>
                </a:solidFill>
                <a:latin typeface="Calibri"/>
              </a:rPr>
              <a:t>P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uede</a:t>
            </a:r>
            <a:r>
              <a:rPr lang="es-E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empezar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7573" y="3319272"/>
            <a:ext cx="8723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FFFFFF"/>
                </a:solidFill>
                <a:latin typeface="Calibri"/>
              </a:rPr>
              <a:t>¿Por 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621024"/>
            <a:ext cx="844905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4048" y="3675887"/>
            <a:ext cx="2084831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65760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Tipo 1
Iniciador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3694176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P1c = 11
(trabajo acordado)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71246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71246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109" y="3712463"/>
            <a:ext cx="10608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encontró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trabajo</a:t>
            </a:r>
            <a:endParaRPr sz="8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47472" y="4059935"/>
            <a:ext cx="8449056" cy="42062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84048" y="4114799"/>
            <a:ext cx="2084831" cy="310896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4096511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Tipo 2
Sin empleo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4133087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P1b = 2
(sin empleo ni negocio)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415137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5A"/>
                </a:solidFill>
                <a:latin typeface="Calibri"/>
              </a:rPr>
              <a:t>SÍ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415137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5A"/>
                </a:solidFill>
                <a:latin typeface="Calibri"/>
              </a:rPr>
              <a:t>SÍ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109" y="4100977"/>
            <a:ext cx="10608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 dirty="0" err="1">
                <a:solidFill>
                  <a:srgbClr val="64748B"/>
                </a:solidFill>
                <a:latin typeface="Calibri"/>
              </a:rPr>
              <a:t>Debe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demostrar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actuó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listo</a:t>
            </a:r>
            <a:endParaRPr sz="8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47472" y="4498848"/>
            <a:ext cx="844905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84048" y="4553712"/>
            <a:ext cx="2084831" cy="310896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4535424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Tipo 3
Ausente sin nexo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4572000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Calibri"/>
              </a:rPr>
              <a:t>P1d ∈ {2,9}
(empleo no continuará)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5A"/>
                </a:solidFill>
                <a:latin typeface="Calibri"/>
              </a:rPr>
              <a:t>SÍ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5A"/>
                </a:solidFill>
                <a:latin typeface="Calibri"/>
              </a:rPr>
              <a:t>SÍ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685" y="4474777"/>
            <a:ext cx="1060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 dirty="0" err="1">
                <a:solidFill>
                  <a:srgbClr val="64748B"/>
                </a:solidFill>
                <a:latin typeface="Calibri"/>
              </a:rPr>
              <a:t>Igual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tipo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2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aunque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venga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800" b="0" i="0" dirty="0" err="1">
                <a:solidFill>
                  <a:srgbClr val="64748B"/>
                </a:solidFill>
                <a:latin typeface="Calibri"/>
              </a:rPr>
              <a:t>ausencia</a:t>
            </a:r>
            <a:endParaRPr sz="800" b="0" i="0" dirty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disponible — criterios 1 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Son disponibles quienes NO son PEA, no son iniciadores, y desean trabajar con barrera TEMPORAL. El INEGI reconoce 7 caminos distintos para clasificar disponibilidad.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252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activamente, pero solo puede empezar en más de 4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Tiene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intención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actuó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inicio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diferido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logísticas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o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proceso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126187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Consiguió una entrevista para el mes siguiente pero aún no tiene respuesta definitiva.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911095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020824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020824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56815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trabajo, pero está desalentada: cree que no hay oportunidades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180843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Realizó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búsqueda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resultado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fue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nulo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Ahora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asume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lugar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para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ella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aunque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seguiría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apareciera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algo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1965960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Egresado que envió 20 CV sin una sola respuesta. Ya cree que no hay plazas, pero tomaría algo si apareciera.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15184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2724912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2724912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660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trabajo, desea trabajar, pero hay un obstáculo temporal concreto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8620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desalentada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tomó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acciones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búsqueda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hay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real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transitoria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impide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inicio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inmediato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670048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Mamá que buscó trabajo pero no puede empezar hasta que termina el ciclo escolar de sus hijos.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319272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429000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429000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364991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No buscó esa semana, pero desea trabajar y la razón fue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63016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El deseo de trabajar existe. Algo puntual interrumpió la búsqueda esa semana, no una decisión permanente de no participar.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374136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que no buscó porque estuvo enferma esa semana. En cuanto se recupere, lo hará.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059936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1">
                <a:solidFill>
                  <a:srgbClr val="1B6CA8"/>
                </a:solidFill>
                <a:latin typeface="Calibri"/>
              </a:rPr>
              <a:t>→ Continúa en la siguiente diapositiva: criterios 5, 6 y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370832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reversible: cuidado de hijos o enfermos · estudia · sin transporte · sin guardería · espera respuesta de solicitud.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disponible — criterios 5 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Continuación. Casos donde hay ambigüedad sobre el deseo de trabajar o el inicio no es inmediato, pero la barrera sigue siendo reversible.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1005840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252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No sabe si desea trabajar, pero se declara disponible con barrera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20074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descarta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persona se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reversible. Su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pesa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duda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1261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Joven que dice 'no sé si quiero trabajar' pero que 'sí podría si le ofrecieran algo cerca de su casa'.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350008"/>
            <a:ext cx="8449056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459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459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395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Desea trabajar, pero no puede empezar pronto por razón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60904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Existe voluntad de trabajar, pero el momento de incorporación está diferido. La barrera es concreta y transitoria — no una decisión permanente de no participar en el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2404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en recuperación posquirúrgica: quiere trabajar pero no puede empezar aún. Volverá cuando se recupere.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493008"/>
            <a:ext cx="8449056" cy="1005840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3602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3602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38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y puede empezar en 1 a 4 semanas — zona gris, casi desocupado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03904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Casi califica como desocupada. La diferencia es que la disponibilidad inmediata (esta semana o la próxima) no está garantizada. Por ese detalle, INEGI la clasifica en disponible.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3547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que conseguirá empleo en 3 semanas. Prácticamente desocupada, pero el tiempo de espera la aleja del criterio estricto.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68172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reversible: cuidado de hijos o enfermos · estudia · sin transporte · sin guardería · espera respuesta de solicitud.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no disponible — criterios 1 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Son no disponibles quienes NO son PEA ni disponibles. Lo que los une es no desear trabajar O tener una barrera PERMANENTE e irreversible.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17495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hay un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impedimento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físico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actual que lo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impide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7296" y="1367490"/>
            <a:ext cx="4503513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existe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salud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otra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concreta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impide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incorporación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momento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transitoria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período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referencia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3457" y="1261872"/>
            <a:ext cx="2994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embarazo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avanzado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médico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no se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permite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ahora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865376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1975104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1975104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9596" y="1864066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A2342"/>
                </a:solidFill>
                <a:latin typeface="Calibri"/>
              </a:rPr>
              <a:t>Tiene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esporádico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tan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ocasional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que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ninguna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instancia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lo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capturó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39596" y="2076182"/>
            <a:ext cx="474778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Técnicamente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debería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ocupada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fue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tan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escaso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ella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reconoció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'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' al responder.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6237" y="1920240"/>
            <a:ext cx="271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Albañil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1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pasado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No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reportó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primera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batería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523744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2633472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2633472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9596" y="2477645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Declara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explícitamente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9596" y="267853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directa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limpia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persona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misma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cierra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puerta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No hay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superar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simplemente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incorporarse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al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6237" y="2578608"/>
            <a:ext cx="265885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Jubilado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satisfecho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pensión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Ama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casa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intención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buscar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empleo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nunca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182112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291840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291840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9304" y="3154490"/>
            <a:ext cx="442121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A2342"/>
                </a:solidFill>
                <a:latin typeface="Calibri"/>
              </a:rPr>
              <a:t>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sabe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si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y hay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una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estructural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indisponibilidad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98448" y="3346141"/>
            <a:ext cx="431858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combinada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con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inclina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clasificación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hacia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señal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participación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reversible.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6237" y="3236976"/>
            <a:ext cx="2658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mayor que dice 'no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sé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 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menciona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'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estoy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muy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vieja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para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840480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2336" y="3950208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" y="3950208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" y="3831335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Desalentada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Y con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impedimento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concreto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—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doble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barrera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89304" y="40507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Cree que no hay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para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ella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(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desaliento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)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además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obstáculo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real.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juntas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alejan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firmemente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6238" y="3895344"/>
            <a:ext cx="2658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Mujer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mayor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zona rural: 'no hay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aquí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 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además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artritis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severa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le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dificulta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moverse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1">
                <a:solidFill>
                  <a:srgbClr val="E76F51"/>
                </a:solidFill>
                <a:latin typeface="Calibri"/>
              </a:rPr>
              <a:t>→ Continúa en la siguiente diapositiva: criterios 6, 7, 8 y 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no disponible — criterios 6 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Continuación. Casos de incertidumbre total, barreras permanentes confirmadas, o caminos alternos del cuestionario que llevan al mismo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19637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Buscó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hay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incertidumbre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total 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estructural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fondo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1425901"/>
            <a:ext cx="421538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Intentó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empezar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desalentada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y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todo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+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=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8428" y="1344168"/>
            <a:ext cx="291152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sin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temporal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clara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cuyas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respuestas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apuntan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ningún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retorno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al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093976"/>
            <a:ext cx="8449056" cy="768096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203704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203704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093976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A2342"/>
                </a:solidFill>
                <a:latin typeface="Calibri"/>
              </a:rPr>
              <a:t>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buscó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sabe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si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y se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declara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disponible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31268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señal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participación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y al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preguntarle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directamente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Completamente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desconectada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8428" y="2148840"/>
            <a:ext cx="2856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que 'no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nada'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buscó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, y dice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980944"/>
            <a:ext cx="8449056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3090672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3090672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298094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la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indisponibilidad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permanente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e irreversible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340638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existe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lo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impide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definitiva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jubilación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incapacidad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otra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cambiará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con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tiempo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8428" y="3042326"/>
            <a:ext cx="294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Jubilado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'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quisiera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algo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',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reconoce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salud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ingresos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hacen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imposible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práctica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867912"/>
            <a:ext cx="8449056" cy="768096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977640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977640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01814"/>
            <a:ext cx="46731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Mismo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resultado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que el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criterio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8,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llegando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por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otro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camino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del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cuestionario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98448" y="4076996"/>
            <a:ext cx="424281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Idéntico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concepto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Solo cambia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ruta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siguió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cuestionario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según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las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respuestas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previas de la persona.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destino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mismo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8428" y="4004966"/>
            <a:ext cx="294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discapacidad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desearía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reconoce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forma.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permanente: jubilado o pensionado · incapacidad permanente · muy joven o muy viejo · familia no le permite · otra razón permanente.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Replicar los datos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cero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cuestionario bruto a los indicadores estratégicos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1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</a:rPr>
              <a:t>Actividad Final — Archivos necesarios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>
                <a:solidFill>
                  <a:srgbClr val="CBD5E1"/>
                </a:solidFill>
              </a:rPr>
              <a:t>Replicar los indicadores desde las respuestas brutas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2084832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208483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0848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necesarios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487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SDEMT126.csv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715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Sociodemográfico — contiene r_def, c_res, eda, fac_tri y los campos precodificados (clase1, clase2...)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3054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540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COE1T126.csv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2826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COE1 — contiene las respuestas brutas P1, P1a1, P1b, P1c, P1d, P1e, P2_1, P2_2, P2b, P2c, P2e, P2f, P2g1, P2g2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621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reconstruccion_variables_enoe.pdf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849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INEGI con los criterios exactos de cada categoría. El árbol de decisión completo por escrito.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Script_final.R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4165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 solución que ya generamos — contiene todo el pipeline completo desde la carga hasta la validación.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681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 microdatos: www.inegi.org.mx/programas/enoe/15ymas/#Microdatos</a:t>
            </a:r>
            <a:endParaRPr lang="en-US" sz="9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381A962-27CE-424C-80B3-C1607E2E6A4E}"/>
              </a:ext>
            </a:extLst>
          </p:cNvPr>
          <p:cNvSpPr/>
          <p:nvPr/>
        </p:nvSpPr>
        <p:spPr>
          <a:xfrm>
            <a:off x="4958118" y="2345436"/>
            <a:ext cx="3801834" cy="2386584"/>
          </a:xfrm>
          <a:prstGeom prst="roundRect">
            <a:avLst>
              <a:gd name="adj" fmla="val 280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95E114A-8F0A-D74F-AF5A-4DFE3C108871}"/>
              </a:ext>
            </a:extLst>
          </p:cNvPr>
          <p:cNvSpPr/>
          <p:nvPr/>
        </p:nvSpPr>
        <p:spPr>
          <a:xfrm>
            <a:off x="5047488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calcular</a:t>
            </a:r>
            <a:endParaRPr lang="en-US" sz="12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215ABC85-185C-4041-9274-EE48209A6717}"/>
              </a:ext>
            </a:extLst>
          </p:cNvPr>
          <p:cNvSpPr/>
          <p:nvPr/>
        </p:nvSpPr>
        <p:spPr>
          <a:xfrm>
            <a:off x="5047488" y="2487168"/>
            <a:ext cx="360221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PEA, PNEA, Ocupados, Desocupados (cifras absolutas)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Desocupación (TD) — trimestral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Participación Económica (TP)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Informalidad Laboral (TIL2)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Gráfica de serie de tiempo para cada indicador: T1-T4 2024, T1-T4 2025 y T1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6602</Words>
  <Application>Microsoft Macintosh PowerPoint</Application>
  <PresentationFormat>Presentación en pantalla (16:9)</PresentationFormat>
  <Paragraphs>744</Paragraphs>
  <Slides>38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11</cp:revision>
  <dcterms:created xsi:type="dcterms:W3CDTF">2026-07-03T17:19:30Z</dcterms:created>
  <dcterms:modified xsi:type="dcterms:W3CDTF">2026-07-08T14:30:36Z</dcterms:modified>
</cp:coreProperties>
</file>